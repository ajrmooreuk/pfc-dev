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WWG — VE Strategy Deck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VE Skill Chain Coverage: VSOM → VP → RRR → KPI/BSC → Kano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Generated from ontology instance data • 2026-03-09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Brand: WWG • DS-ONT token-governed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 &amp; VSOM Cascade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6 strategies, 19 objectives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Value Proposition Canvas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3 problems, 1 solutions, 5 benefits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KPI &amp; Balanced Scorecard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22 KPIs across 4 BSC perspectives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Kano Feature Analysis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4 features, 3 segments, 12 classifications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Roles &amp; Responsibilities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7 functional roles (RRR-ONT)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D1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 &amp; VSOM Cascade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Strategic foundation for WWG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Vision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Transform World Wide Gourmet from a reactive food importer into a margin-intelligent, graph-driven business that sees every pound of exposure from container stuffing to customer delivery — and acts on that visibility to protect, price, and grow margin across every corridor and every order.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Key Insight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Today WWG operates two disconnected worlds: procurement watches inbound corridors, sales watches outbound fulfilment. Nobody owns the warehouse in between, where margin bleeds invisibly. The E2E graph eliminates this blind spot.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VSOM — 6 Strategy Pillars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S1 · Three-Layer Composed Graph — Supply, Bridge, Demand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Build a unified three-layer graph connecting 4 inbound corridors (LSC-ONT) through the UK warehouse margin pool to 5+ customer segments (OFM-ONT), with bidirectional traversal and 9 cross-layer join points.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S2 · Margin-at-Risk (MaR) — The Unifying Metric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Develop a single, real-time Margin-at-Risk metric aggregating active erosion, probabilistic erosion, and scenario exposure across every order, corridor, and time horizon.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S3 · Cross-Corridor Substitution Engine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Use the unified graph to automatically identify commodity-equivalent substitutions across corridors when a primary source is disrupted, with margin impact pre-calculated before the substitution is offered.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S4 · Proactive Customer Lifecycle Management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Use demand-side patterns and fulfilment risk scores to segment customers by behaviour, predict changes before they happen, and protect relationships through pre-emptive action.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S5 · Warehouse Capacity Intelligence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Model the UK cold warehouse as a capacity-constrained bridge node, forecasting inbound arrivals against outbound dispatches to prevent storage overflow, minimise dwell time, and optimise dispatch consolidation.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S6 · Unified Risk &amp; Performance Reporting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Deliver a single BSC-structured performance view across all 4 corridors and all customer segments, with causal links from operational actions to financial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Strategic Objectives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097280"/>
                <a:gridCol w="1097280"/>
                <a:gridCol w="1371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Objective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BSC Perspective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Priority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Baseline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Target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Maximise margin realisation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72%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88%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Reduce annualised disruption cost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 480K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 180K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Minimise storage cost per unit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 2.10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 1.65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Recover change costs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30%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65%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Reduce spoilage and write-offs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4.2%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1.0%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Corridor margin transparency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None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100% orders with full net-margin breakdown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Achieve industry-leading OTIF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88%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97%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Proactive disruption communication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20%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Guarantee shelf life at delivery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85%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100%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Fastest substitution response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48+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Detect disruptions instantly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18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2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Resolve disruptions rapidly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P1-Critical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72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12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Perfect document readiness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78%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100%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Fast stock allocation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48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 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Consolidate dispatches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InternalProcess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P3-Medium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45%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Build pattern intelligence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LearningGrowth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50+ validated patterns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Test hypotheses continuously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LearningGrowth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P2-High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40+ per quarter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Capture every lesson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LearningGrowth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P3-Medium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100%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Forecast demand accurately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LearningGrowth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P3-Medium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Unknown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85%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D1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Value Proposition Canvas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Problems → Solutions → Benefits (VP-ONT / RRR-ONT aligned)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Value Propositions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WWG International Specialist Food Import Platform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WWG delivers premium international food products to UK businesses with graph-driven supply chain intelligence that detects disruptions before they impact your orders, communicates proactively, and protects your menu and shelf plans from the volatility of global logistics.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Proactive disruption notification (average 5 days before impact)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Cross-corridor substitution capability across 4 source countries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Real-time shelf life transparency at every chain node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Margin-protected fulfilment with change-cost visibility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Customer Problems (vp:Problem → rrr:Risk)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P1 · Functional (Critical)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UK food businesses importing internationally have no real-time visibility into their supply chain — disruptions are discovered reactively when deliveries fail, not proactively when events occur at origin, in transit, or at border control.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P2 · Economic (Major)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Margin erodes invisibly between goods landing and customer delivery through storage costs, customer changes, shelf life decay, and dispatch replanning — with no single view of cumulative erosion per order until the P&amp;L closes.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P3 · Economic (Major)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Customer changes (date push-backs, quantity reductions, spec changes, cancellations) cascade into storage overflow, shelf life risk, and orphaned stock — but the true cost of each change is unknown, making it impossible to price flexibility fairly.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Pain Points — Quantified Impact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Pain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Dimension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Impact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Customers learn about supply disruptions only when their delivery fails — no adv…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Functional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Average 2.5 days of lost sales per unnotified disruption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Margin erosion from storage, changes, and dispatch replanning is only visible at…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Financial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8-15% average margin erosion vs booked margin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Each source corridor (AU, NZ, IS, IE) is managed independently with no cross-cor…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Functional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5-14 additional days delay when substitution is manual vs graph-driven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Different regulatory regimes per corridor (DAFF, MPI, MAST, DAFM, Windsor Framew…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Process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 3-8K per compliance gate failure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No real-time visibility of remaining shelf life at each chain node — goods arriv…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Functional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15-25% price markdown on short-dated stock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Solutions &amp; Benefits (vp:Solution → rrr:Requirement)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Solutions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WWG Graph-Driven Supply-Demand Intelligence Platform: Unified graph of 4 international supply corridors (LSC-ONT) bridged to customer order fulfilment (OFM-ONT) through wareh…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Benefits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60% reduction in customer-visible supply failures — Proactive disruption management across 4 corridors reduces customer-visible supply failures by 60% w…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GBP 180K per annum margin recovery — Real-time margin erosion tracking and early intervention reduces average order margin erosion from 1…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Zero short-date rejections (from current 3-5% rejection rate) — Real-time shelf life tracking at every chain node enables guaranteed minimum shelf life at delivery,…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50% change-cost recovery rate (from current 0%) — Data-driven change-cost library enables fair pricing of customer flexibility — customers know the co…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100% document pre-flight pass rate, zero BCP gate failures — Unified compliance view across AU/NZ/IS/IE regulatory regimes with document pre-flight checking elim…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Ideal Customer Profiles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ICP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Industry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Size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Key Needs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UK Restaurant Chain Procurement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Hospitality / Restaurant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Mid-market (50-500 employees)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Menu consistency across all sites; Minimum 14-day shelf life at delivery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UK Specialist Food Wholesaler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Food Wholesale / Distribution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Mid-market (20-200 employees)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Competitive landed cost with transparent margin; Product provenance and certification trail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UK Food Service Distributor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Food Service Distribution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Enterprise (200+ employees)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98%+ OTIF (On-Time In-Full) delivery rate; Full compliance documentation for public sector audits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UK Online Specialist Food Retailer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E-commerce / Specialty Retail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Small-Medium (5-50 employees)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Maximum shelf life at delivery (21+ days preferred); Product origin story and sustainability credentials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D1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KPI &amp; Balanced Scorecard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22 KPIs across 4 BSC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Balanced Scorecard — Perspectives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Financial (30%)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Financial — Margin Protection &amp; Cost Control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Customer (25%)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Customer — Reliability &amp; Trust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InternalProcess (25%)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Internal Process — Operational Excellence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LearningAndGrowth (20%)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Learning &amp; Growth — Intelligence &amp; Capability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KPI Dashboard — 22 Metrics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KPI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Perspective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Target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Unit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Margin Realisation Ratio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85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Annualised Disruption Cost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180000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Cold Storage Cost per Tonne per Day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12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GBP/tonne/day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Change-Cost Recovery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60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Margin-at-Risk (MaR)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50000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GBP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Corridor Cost Variance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5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OTIF Rate (On-Time In-Full)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94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Shelf Life Compliance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95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Proactive Notification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First-Attempt Delivery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96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Mean Time to Detect (MTTD)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Mean Time to Resolve (MTTR)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48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Document Pre-Flight Pass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98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Stock Allocation Lead Time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24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hours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Dispatch Consolidation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70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Hypothesis Iteration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2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hypotheses/month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Predictive Pattern Library Size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20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count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Post-Incident Learning Capture Rate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90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Demand Forecast Accuracy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80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percentage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Supply Disruption → Customer Impact Ratio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0.2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ratio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D1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Kano Feature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4 features across 3 segments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Kano Quadrant — Feature Classification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82880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Feature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Description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Category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Confidence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Disruption Notification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Real-time alerts when supply corridor disruptions affect ord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Unclassified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—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Cross-Corridor Substitution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Automated suggestion of equivalent products from alternative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Unclassified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—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Shelf-Life Transparency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Full visibility of remaining shelf life at point of delivery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Unclassified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—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Margin Dashboard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Real-time gross margin visibility per product line, corridor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Indifferent, Attractive, Performance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F1F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71%</a:t>
                      </a: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D1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Roles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7 functional roles (RRR-ONT)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Functional Roles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Role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Type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51331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Description</a:t>
                      </a:r>
                      <a:endParaRPr lang="en-US" sz="10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1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D1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Summary — WWG VE Chain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VSOM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6 strategies, 19 objectives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VP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 VPs, 3 problems, 1 solutions, 5 benefits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KPI/BSC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22 KPIs across 4 perspectives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Kano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4 features, 12 classifications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RRR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7 functional roles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59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Coverage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5/5 VE stages: VSOM → VP → RRR → KPI/BSC → Kano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5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1F50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WWG • VE Strategy Deck • DS-ONT Token-Governed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1F1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Generated from VE chain instance data • 2026-03-09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WWG — VE Strategy Deck</dc:title>
  <dc:subject>PptxGenJS Presentation</dc:subject>
  <dc:creator>PF-Core / Claude</dc:creator>
  <cp:lastModifiedBy>PF-Core / Claude</cp:lastModifiedBy>
  <cp:revision>1</cp:revision>
  <dcterms:created xsi:type="dcterms:W3CDTF">2026-03-09T16:45:38Z</dcterms:created>
  <dcterms:modified xsi:type="dcterms:W3CDTF">2026-03-09T16:45:38Z</dcterms:modified>
</cp:coreProperties>
</file>