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3D48"/>
        </a:solidFill>
      </p:bgPr>
    </p:bg>
    <p:spTree>
      <p:nvGrpSpPr>
        <p:cNvPr id="1" name=""/>
        <p:cNvGrpSpPr/>
        <p:nvPr/>
      </p:nvGrpSpPr>
      <p:grpSpPr>
        <a:xfrm>
          <a:off x="0" y="0"/>
          <a:ext cx="0" cy="0"/>
          <a:chOff x="0" y="0"/>
          <a:chExt cx="0" cy="0"/>
        </a:xfrm>
      </p:grpSpPr>
      <p:sp>
        <p:nvSpPr>
          <p:cNvPr id="2" name="Text 0"/>
          <p:cNvSpPr/>
          <p:nvPr/>
        </p:nvSpPr>
        <p:spPr>
          <a:xfrm>
            <a:off x="731520" y="1097280"/>
            <a:ext cx="7680960" cy="914400"/>
          </a:xfrm>
          <a:prstGeom prst="rect">
            <a:avLst/>
          </a:prstGeom>
          <a:noFill/>
          <a:ln/>
        </p:spPr>
        <p:txBody>
          <a:bodyPr wrap="square" rtlCol="0" anchor="ctr"/>
          <a:lstStyle/>
          <a:p>
            <a:pPr indent="0" marL="0">
              <a:buNone/>
            </a:pPr>
            <a:r>
              <a:rPr lang="en-US" sz="4200" b="1" dirty="0">
                <a:solidFill>
                  <a:srgbClr val="E9F3F3"/>
                </a:solidFill>
                <a:latin typeface="Jura" pitchFamily="34" charset="0"/>
                <a:ea typeface="Jura" pitchFamily="34" charset="-122"/>
                <a:cs typeface="Jura" pitchFamily="34" charset="-120"/>
              </a:rPr>
              <a:t>Value Engineering</a:t>
            </a:r>
            <a:endParaRPr lang="en-US" sz="4200" dirty="0"/>
          </a:p>
        </p:txBody>
      </p:sp>
      <p:sp>
        <p:nvSpPr>
          <p:cNvPr id="3" name="Text 1"/>
          <p:cNvSpPr/>
          <p:nvPr/>
        </p:nvSpPr>
        <p:spPr>
          <a:xfrm>
            <a:off x="731520" y="2103120"/>
            <a:ext cx="7680960" cy="640080"/>
          </a:xfrm>
          <a:prstGeom prst="rect">
            <a:avLst/>
          </a:prstGeom>
          <a:noFill/>
          <a:ln/>
        </p:spPr>
        <p:txBody>
          <a:bodyPr wrap="square" rtlCol="0" anchor="ctr"/>
          <a:lstStyle/>
          <a:p>
            <a:pPr indent="0" marL="0">
              <a:buNone/>
            </a:pPr>
            <a:r>
              <a:rPr lang="en-US" sz="2200" dirty="0">
                <a:solidFill>
                  <a:srgbClr val="00A4BF"/>
                </a:solidFill>
                <a:latin typeface="Jura" pitchFamily="34" charset="0"/>
                <a:ea typeface="Jura" pitchFamily="34" charset="-122"/>
                <a:cs typeface="Jura" pitchFamily="34" charset="-120"/>
              </a:rPr>
              <a:t>From Idea to Execution via the VE Skill Chain</a:t>
            </a:r>
            <a:endParaRPr lang="en-US" sz="2200" dirty="0"/>
          </a:p>
        </p:txBody>
      </p:sp>
      <p:sp>
        <p:nvSpPr>
          <p:cNvPr id="4" name="Text 2"/>
          <p:cNvSpPr/>
          <p:nvPr/>
        </p:nvSpPr>
        <p:spPr>
          <a:xfrm>
            <a:off x="731520" y="2926080"/>
            <a:ext cx="7680960" cy="548640"/>
          </a:xfrm>
          <a:prstGeom prst="rect">
            <a:avLst/>
          </a:prstGeom>
          <a:noFill/>
          <a:ln/>
        </p:spPr>
        <p:txBody>
          <a:bodyPr wrap="square" rtlCol="0" anchor="ctr"/>
          <a:lstStyle/>
          <a:p>
            <a:pPr indent="0" marL="0">
              <a:buNone/>
            </a:pPr>
            <a:r>
              <a:rPr lang="en-US" sz="1300" dirty="0">
                <a:solidFill>
                  <a:srgbClr val="CEC528"/>
                </a:solidFill>
                <a:latin typeface="Jura" pitchFamily="34" charset="0"/>
                <a:ea typeface="Jura" pitchFamily="34" charset="-122"/>
                <a:cs typeface="Jura" pitchFamily="34" charset="-120"/>
              </a:rPr>
              <a:t>How structured strategic thinking translates vision into validated products — and why the Strategic Neural Graph makes it repeatable</a:t>
            </a:r>
            <a:endParaRPr lang="en-US" sz="1300" dirty="0"/>
          </a:p>
        </p:txBody>
      </p:sp>
      <p:sp>
        <p:nvSpPr>
          <p:cNvPr id="5" name="Text 3"/>
          <p:cNvSpPr/>
          <p:nvPr/>
        </p:nvSpPr>
        <p:spPr>
          <a:xfrm>
            <a:off x="731520" y="4114800"/>
            <a:ext cx="7680960" cy="365760"/>
          </a:xfrm>
          <a:prstGeom prst="rect">
            <a:avLst/>
          </a:prstGeom>
          <a:noFill/>
          <a:ln/>
        </p:spPr>
        <p:txBody>
          <a:bodyPr wrap="square" rtlCol="0" anchor="ctr"/>
          <a:lstStyle/>
          <a:p>
            <a:pPr indent="0" marL="0">
              <a:buNone/>
            </a:pPr>
            <a:r>
              <a:rPr lang="en-US" sz="1200" dirty="0">
                <a:solidFill>
                  <a:srgbClr val="D9EBEB"/>
                </a:solidFill>
                <a:latin typeface="Jura" pitchFamily="34" charset="0"/>
                <a:ea typeface="Jura" pitchFamily="34" charset="-122"/>
                <a:cs typeface="Jura" pitchFamily="34" charset="-120"/>
              </a:rPr>
              <a:t>PF-Core Platform Foundation • March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03D48"/>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005B6B"/>
          </a:solidFill>
          <a:ln/>
        </p:spPr>
      </p:sp>
      <p:sp>
        <p:nvSpPr>
          <p:cNvPr id="3" name="Text 1"/>
          <p:cNvSpPr/>
          <p:nvPr/>
        </p:nvSpPr>
        <p:spPr>
          <a:xfrm>
            <a:off x="457200" y="91440"/>
            <a:ext cx="8229600" cy="548640"/>
          </a:xfrm>
          <a:prstGeom prst="rect">
            <a:avLst/>
          </a:prstGeom>
          <a:noFill/>
          <a:ln/>
        </p:spPr>
        <p:txBody>
          <a:bodyPr wrap="square" rtlCol="0" anchor="ctr"/>
          <a:lstStyle/>
          <a:p>
            <a:pPr indent="0" marL="0">
              <a:buNone/>
            </a:pPr>
            <a:r>
              <a:rPr lang="en-US" sz="1800" b="1" dirty="0">
                <a:solidFill>
                  <a:srgbClr val="00A4BF"/>
                </a:solidFill>
                <a:latin typeface="Jura" pitchFamily="34" charset="0"/>
                <a:ea typeface="Jura" pitchFamily="34" charset="-122"/>
                <a:cs typeface="Jura" pitchFamily="34" charset="-120"/>
              </a:rPr>
              <a:t>What This Deck Covers</a:t>
            </a:r>
            <a:endParaRPr lang="en-US" sz="1800" dirty="0"/>
          </a:p>
        </p:txBody>
      </p:sp>
      <p:sp>
        <p:nvSpPr>
          <p:cNvPr id="4" name="Text 2"/>
          <p:cNvSpPr/>
          <p:nvPr/>
        </p:nvSpPr>
        <p:spPr>
          <a:xfrm>
            <a:off x="457200" y="914400"/>
            <a:ext cx="7772400" cy="3840480"/>
          </a:xfrm>
          <a:prstGeom prst="rect">
            <a:avLst/>
          </a:prstGeom>
          <a:noFill/>
          <a:ln/>
        </p:spPr>
        <p:txBody>
          <a:bodyPr wrap="square" rtlCol="0" anchor="t"/>
          <a:lstStyle/>
          <a:p>
            <a:pPr indent="0" marL="0">
              <a:lnSpc>
                <a:spcPct val="115000"/>
              </a:lnSpc>
              <a:buNone/>
            </a:pPr>
            <a:r>
              <a:rPr lang="en-US" sz="1300" b="1" dirty="0">
                <a:solidFill>
                  <a:srgbClr val="CEC528"/>
                </a:solidFill>
                <a:latin typeface="Jura" pitchFamily="34" charset="0"/>
                <a:ea typeface="Jura" pitchFamily="34" charset="-122"/>
                <a:cs typeface="Jura" pitchFamily="34" charset="-120"/>
              </a:rPr>
              <a:t>1. The Problem — Why Most Ideas Never Become Products</a:t>
            </a:r>
            <a:endParaRPr lang="en-US" sz="1300" dirty="0"/>
          </a:p>
          <a:p>
            <a:pPr marL="342900" indent="-342900">
              <a:lnSpc>
                <a:spcPct val="115000"/>
              </a:lnSpc>
              <a:buSzPct val="100000"/>
              <a:buChar char="•"/>
            </a:pPr>
            <a:r>
              <a:rPr lang="en-US" sz="1100" dirty="0">
                <a:solidFill>
                  <a:srgbClr val="E9F3F3"/>
                </a:solidFill>
                <a:latin typeface="Jura" pitchFamily="34" charset="0"/>
                <a:ea typeface="Jura" pitchFamily="34" charset="-122"/>
                <a:cs typeface="Jura" pitchFamily="34" charset="-120"/>
              </a:rPr>
              <a:t>The gap between strategic intent and validated execution is where most organisations lose value</a:t>
            </a:r>
            <a:endParaRPr lang="en-US" sz="1300" dirty="0"/>
          </a:p>
          <a:p>
            <a:pPr indent="0" marL="0">
              <a:lnSpc>
                <a:spcPct val="115000"/>
              </a:lnSpc>
              <a:buNone/>
            </a:pPr>
            <a:r>
              <a:rPr lang="en-US" sz="1300" b="1" dirty="0">
                <a:solidFill>
                  <a:srgbClr val="CEC528"/>
                </a:solidFill>
                <a:latin typeface="Jura" pitchFamily="34" charset="0"/>
                <a:ea typeface="Jura" pitchFamily="34" charset="-122"/>
                <a:cs typeface="Jura" pitchFamily="34" charset="-120"/>
              </a:rPr>
              <a:t>2. Value Engineering — The Discipline, Not the Buzzword</a:t>
            </a:r>
            <a:endParaRPr lang="en-US" sz="1300" dirty="0"/>
          </a:p>
          <a:p>
            <a:pPr marL="342900" indent="-342900">
              <a:lnSpc>
                <a:spcPct val="115000"/>
              </a:lnSpc>
              <a:buSzPct val="100000"/>
              <a:buChar char="•"/>
            </a:pPr>
            <a:r>
              <a:rPr lang="en-US" sz="1100" dirty="0">
                <a:solidFill>
                  <a:srgbClr val="E9F3F3"/>
                </a:solidFill>
                <a:latin typeface="Jura" pitchFamily="34" charset="0"/>
                <a:ea typeface="Jura" pitchFamily="34" charset="-122"/>
                <a:cs typeface="Jura" pitchFamily="34" charset="-120"/>
              </a:rPr>
              <a:t>A structured methodology for translating aspirational vision into measurable, testable propositions</a:t>
            </a:r>
            <a:endParaRPr lang="en-US" sz="1300" dirty="0"/>
          </a:p>
          <a:p>
            <a:pPr indent="0" marL="0">
              <a:lnSpc>
                <a:spcPct val="115000"/>
              </a:lnSpc>
              <a:buNone/>
            </a:pPr>
            <a:r>
              <a:rPr lang="en-US" sz="1300" b="1" dirty="0">
                <a:solidFill>
                  <a:srgbClr val="CEC528"/>
                </a:solidFill>
                <a:latin typeface="Jura" pitchFamily="34" charset="0"/>
                <a:ea typeface="Jura" pitchFamily="34" charset="-122"/>
                <a:cs typeface="Jura" pitchFamily="34" charset="-120"/>
              </a:rPr>
              <a:t>3. The VE Skill Chain — Six Ontologies, One Unbroken Thread</a:t>
            </a:r>
            <a:endParaRPr lang="en-US" sz="1300" dirty="0"/>
          </a:p>
          <a:p>
            <a:pPr marL="342900" indent="-342900">
              <a:lnSpc>
                <a:spcPct val="115000"/>
              </a:lnSpc>
              <a:buSzPct val="100000"/>
              <a:buChar char="•"/>
            </a:pPr>
            <a:r>
              <a:rPr lang="en-US" sz="1100" dirty="0">
                <a:solidFill>
                  <a:srgbClr val="E9F3F3"/>
                </a:solidFill>
                <a:latin typeface="Jura" pitchFamily="34" charset="0"/>
                <a:ea typeface="Jura" pitchFamily="34" charset="-122"/>
                <a:cs typeface="Jura" pitchFamily="34" charset="-120"/>
              </a:rPr>
              <a:t>VSOM → OKR → KPI → VP → Kano → PMF — each stage builds on the last, nothing is left implicit</a:t>
            </a:r>
            <a:endParaRPr lang="en-US" sz="1300" dirty="0"/>
          </a:p>
          <a:p>
            <a:pPr indent="0" marL="0">
              <a:lnSpc>
                <a:spcPct val="115000"/>
              </a:lnSpc>
              <a:buNone/>
            </a:pPr>
            <a:r>
              <a:rPr lang="en-US" sz="1300" b="1" dirty="0">
                <a:solidFill>
                  <a:srgbClr val="CEC528"/>
                </a:solidFill>
                <a:latin typeface="Jura" pitchFamily="34" charset="0"/>
                <a:ea typeface="Jura" pitchFamily="34" charset="-122"/>
                <a:cs typeface="Jura" pitchFamily="34" charset="-120"/>
              </a:rPr>
              <a:t>4. The Bridge to Execution — VE Meets PE</a:t>
            </a:r>
            <a:endParaRPr lang="en-US" sz="1300" dirty="0"/>
          </a:p>
          <a:p>
            <a:pPr marL="342900" indent="-342900">
              <a:lnSpc>
                <a:spcPct val="115000"/>
              </a:lnSpc>
              <a:buSzPct val="100000"/>
              <a:buChar char="•"/>
            </a:pPr>
            <a:r>
              <a:rPr lang="en-US" sz="1100" dirty="0">
                <a:solidFill>
                  <a:srgbClr val="E9F3F3"/>
                </a:solidFill>
                <a:latin typeface="Jura" pitchFamily="34" charset="0"/>
                <a:ea typeface="Jura" pitchFamily="34" charset="-122"/>
                <a:cs typeface="Jura" pitchFamily="34" charset="-120"/>
              </a:rPr>
              <a:t>How the VE chain produces the PRD that the PE (Process Engineering) ontology needs to build</a:t>
            </a:r>
            <a:endParaRPr lang="en-US" sz="1300" dirty="0"/>
          </a:p>
          <a:p>
            <a:pPr indent="0" marL="0">
              <a:lnSpc>
                <a:spcPct val="115000"/>
              </a:lnSpc>
              <a:buNone/>
            </a:pPr>
            <a:r>
              <a:rPr lang="en-US" sz="1300" b="1" dirty="0">
                <a:solidFill>
                  <a:srgbClr val="CEC528"/>
                </a:solidFill>
                <a:latin typeface="Jura" pitchFamily="34" charset="0"/>
                <a:ea typeface="Jura" pitchFamily="34" charset="-122"/>
                <a:cs typeface="Jura" pitchFamily="34" charset="-120"/>
              </a:rPr>
              <a:t>5. Programme to PoC — The Builder Phase</a:t>
            </a:r>
            <a:endParaRPr lang="en-US" sz="1300" dirty="0"/>
          </a:p>
          <a:p>
            <a:pPr marL="342900" indent="-342900">
              <a:lnSpc>
                <a:spcPct val="115000"/>
              </a:lnSpc>
              <a:buSzPct val="100000"/>
              <a:buChar char="•"/>
            </a:pPr>
            <a:r>
              <a:rPr lang="en-US" sz="1100" dirty="0">
                <a:solidFill>
                  <a:srgbClr val="E9F3F3"/>
                </a:solidFill>
                <a:latin typeface="Jura" pitchFamily="34" charset="0"/>
                <a:ea typeface="Jura" pitchFamily="34" charset="-122"/>
                <a:cs typeface="Jura" pitchFamily="34" charset="-120"/>
              </a:rPr>
              <a:t>From validated proposition to working proof-of-concept via PPM, EFS, and the PE skill chain</a:t>
            </a:r>
            <a:endParaRPr lang="en-US" sz="1300" dirty="0"/>
          </a:p>
          <a:p>
            <a:pPr indent="0" marL="0">
              <a:lnSpc>
                <a:spcPct val="115000"/>
              </a:lnSpc>
              <a:buNone/>
            </a:pPr>
            <a:r>
              <a:rPr lang="en-US" sz="1300" b="1" dirty="0">
                <a:solidFill>
                  <a:srgbClr val="CEC528"/>
                </a:solidFill>
                <a:latin typeface="Jura" pitchFamily="34" charset="0"/>
                <a:ea typeface="Jura" pitchFamily="34" charset="-122"/>
                <a:cs typeface="Jura" pitchFamily="34" charset="-120"/>
              </a:rPr>
              <a:t>6. The Strategic Neural Graph — Why This Works at Scale</a:t>
            </a:r>
            <a:endParaRPr lang="en-US" sz="1300" dirty="0"/>
          </a:p>
          <a:p>
            <a:pPr marL="342900" indent="-342900">
              <a:lnSpc>
                <a:spcPct val="115000"/>
              </a:lnSpc>
              <a:buSzPct val="100000"/>
              <a:buChar char="•"/>
            </a:pPr>
            <a:r>
              <a:rPr lang="en-US" sz="1100" dirty="0">
                <a:solidFill>
                  <a:srgbClr val="E9F3F3"/>
                </a:solidFill>
                <a:latin typeface="Jura" pitchFamily="34" charset="0"/>
                <a:ea typeface="Jura" pitchFamily="34" charset="-122"/>
                <a:cs typeface="Jura" pitchFamily="34" charset="-120"/>
              </a:rPr>
              <a:t>The Unified Registry Graph as the connective tissue that makes idea-to-PoC repeatable across instances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05B6B"/>
        </a:solidFill>
      </p:bgPr>
    </p:bg>
    <p:spTree>
      <p:nvGrpSpPr>
        <p:cNvPr id="1" name=""/>
        <p:cNvGrpSpPr/>
        <p:nvPr/>
      </p:nvGrpSpPr>
      <p:grpSpPr>
        <a:xfrm>
          <a:off x="0" y="0"/>
          <a:ext cx="0" cy="0"/>
          <a:chOff x="0" y="0"/>
          <a:chExt cx="0" cy="0"/>
        </a:xfrm>
      </p:grpSpPr>
      <p:sp>
        <p:nvSpPr>
          <p:cNvPr id="2" name="Text 0"/>
          <p:cNvSpPr/>
          <p:nvPr/>
        </p:nvSpPr>
        <p:spPr>
          <a:xfrm>
            <a:off x="731520" y="1645920"/>
            <a:ext cx="1371600" cy="1371600"/>
          </a:xfrm>
          <a:prstGeom prst="rect">
            <a:avLst/>
          </a:prstGeom>
          <a:noFill/>
          <a:ln/>
        </p:spPr>
        <p:txBody>
          <a:bodyPr wrap="square" rtlCol="0" anchor="ctr"/>
          <a:lstStyle/>
          <a:p>
            <a:pPr indent="0" marL="0">
              <a:buNone/>
            </a:pPr>
            <a:r>
              <a:rPr lang="en-US" sz="4800" b="1" dirty="0">
                <a:solidFill>
                  <a:srgbClr val="00A4BF"/>
                </a:solidFill>
                <a:latin typeface="Jura" pitchFamily="34" charset="0"/>
                <a:ea typeface="Jura" pitchFamily="34" charset="-122"/>
                <a:cs typeface="Jura" pitchFamily="34" charset="-120"/>
              </a:rPr>
              <a:t>01</a:t>
            </a:r>
            <a:endParaRPr lang="en-US" sz="4800" dirty="0"/>
          </a:p>
        </p:txBody>
      </p:sp>
      <p:sp>
        <p:nvSpPr>
          <p:cNvPr id="3" name="Text 1"/>
          <p:cNvSpPr/>
          <p:nvPr/>
        </p:nvSpPr>
        <p:spPr>
          <a:xfrm>
            <a:off x="2286000" y="1645920"/>
            <a:ext cx="5943600" cy="731520"/>
          </a:xfrm>
          <a:prstGeom prst="rect">
            <a:avLst/>
          </a:prstGeom>
          <a:noFill/>
          <a:ln/>
        </p:spPr>
        <p:txBody>
          <a:bodyPr wrap="square" rtlCol="0" anchor="ctr"/>
          <a:lstStyle/>
          <a:p>
            <a:pPr indent="0" marL="0">
              <a:buNone/>
            </a:pPr>
            <a:r>
              <a:rPr lang="en-US" sz="2800" b="1" dirty="0">
                <a:solidFill>
                  <a:srgbClr val="E9F3F3"/>
                </a:solidFill>
                <a:latin typeface="Jura" pitchFamily="34" charset="0"/>
                <a:ea typeface="Jura" pitchFamily="34" charset="-122"/>
                <a:cs typeface="Jura" pitchFamily="34" charset="-120"/>
              </a:rPr>
              <a:t>The Problem</a:t>
            </a:r>
            <a:endParaRPr lang="en-US" sz="2800" dirty="0"/>
          </a:p>
        </p:txBody>
      </p:sp>
      <p:sp>
        <p:nvSpPr>
          <p:cNvPr id="4" name="Text 2"/>
          <p:cNvSpPr/>
          <p:nvPr/>
        </p:nvSpPr>
        <p:spPr>
          <a:xfrm>
            <a:off x="2286000" y="2468880"/>
            <a:ext cx="5943600" cy="548640"/>
          </a:xfrm>
          <a:prstGeom prst="rect">
            <a:avLst/>
          </a:prstGeom>
          <a:noFill/>
          <a:ln/>
        </p:spPr>
        <p:txBody>
          <a:bodyPr wrap="square" rtlCol="0" anchor="ctr"/>
          <a:lstStyle/>
          <a:p>
            <a:pPr indent="0" marL="0">
              <a:buNone/>
            </a:pPr>
            <a:r>
              <a:rPr lang="en-US" sz="1400" dirty="0">
                <a:solidFill>
                  <a:srgbClr val="CEC528"/>
                </a:solidFill>
                <a:latin typeface="Jura" pitchFamily="34" charset="0"/>
                <a:ea typeface="Jura" pitchFamily="34" charset="-122"/>
                <a:cs typeface="Jura" pitchFamily="34" charset="-120"/>
              </a:rPr>
              <a:t>Why most ideas never become products</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03D48"/>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005B6B"/>
          </a:solidFill>
          <a:ln/>
        </p:spPr>
      </p:sp>
      <p:sp>
        <p:nvSpPr>
          <p:cNvPr id="3" name="Text 1"/>
          <p:cNvSpPr/>
          <p:nvPr/>
        </p:nvSpPr>
        <p:spPr>
          <a:xfrm>
            <a:off x="457200" y="91440"/>
            <a:ext cx="8229600" cy="548640"/>
          </a:xfrm>
          <a:prstGeom prst="rect">
            <a:avLst/>
          </a:prstGeom>
          <a:noFill/>
          <a:ln/>
        </p:spPr>
        <p:txBody>
          <a:bodyPr wrap="square" rtlCol="0" anchor="ctr"/>
          <a:lstStyle/>
          <a:p>
            <a:pPr indent="0" marL="0">
              <a:buNone/>
            </a:pPr>
            <a:r>
              <a:rPr lang="en-US" sz="1800" b="1" dirty="0">
                <a:solidFill>
                  <a:srgbClr val="00A4BF"/>
                </a:solidFill>
                <a:latin typeface="Jura" pitchFamily="34" charset="0"/>
                <a:ea typeface="Jura" pitchFamily="34" charset="-122"/>
                <a:cs typeface="Jura" pitchFamily="34" charset="-120"/>
              </a:rPr>
              <a:t>The Idea-to-Execution Gap Is Where Value Dies</a:t>
            </a:r>
            <a:endParaRPr lang="en-US" sz="1800" dirty="0"/>
          </a:p>
        </p:txBody>
      </p:sp>
      <p:sp>
        <p:nvSpPr>
          <p:cNvPr id="4" name="Text 2"/>
          <p:cNvSpPr/>
          <p:nvPr/>
        </p:nvSpPr>
        <p:spPr>
          <a:xfrm>
            <a:off x="457200" y="914400"/>
            <a:ext cx="7772400" cy="3840480"/>
          </a:xfrm>
          <a:prstGeom prst="rect">
            <a:avLst/>
          </a:prstGeom>
          <a:noFill/>
          <a:ln/>
        </p:spPr>
        <p:txBody>
          <a:bodyPr wrap="square" rtlCol="0" anchor="t"/>
          <a:lstStyle/>
          <a:p>
            <a:pPr indent="0" marL="0">
              <a:lnSpc>
                <a:spcPct val="115000"/>
              </a:lnSpc>
              <a:buNone/>
            </a:pPr>
            <a:r>
              <a:rPr lang="en-US" sz="1300" b="1" dirty="0">
                <a:solidFill>
                  <a:srgbClr val="CEC528"/>
                </a:solidFill>
                <a:latin typeface="Jura" pitchFamily="34" charset="0"/>
                <a:ea typeface="Jura" pitchFamily="34" charset="-122"/>
                <a:cs typeface="Jura" pitchFamily="34" charset="-120"/>
              </a:rPr>
              <a:t>The Pattern We All Recognise</a:t>
            </a:r>
            <a:endParaRPr lang="en-US" sz="1300" dirty="0"/>
          </a:p>
          <a:p>
            <a:pPr marL="342900" indent="-342900">
              <a:lnSpc>
                <a:spcPct val="115000"/>
              </a:lnSpc>
              <a:buSzPct val="100000"/>
              <a:buChar char="•"/>
            </a:pPr>
            <a:r>
              <a:rPr lang="en-US" sz="1100" dirty="0">
                <a:solidFill>
                  <a:srgbClr val="E9F3F3"/>
                </a:solidFill>
                <a:latin typeface="Jura" pitchFamily="34" charset="0"/>
                <a:ea typeface="Jura" pitchFamily="34" charset="-122"/>
                <a:cs typeface="Jura" pitchFamily="34" charset="-120"/>
              </a:rPr>
              <a:t>A compelling vision is articulated. Strategy pillars are defined. Objectives are set. Then silence. Months later, the team has built something — but nobody can trace it back to the original strategic intent. The PRD was written in isolation. The features were prioritised by gut feel. The MVP was scoped by who shouted loudest.</a:t>
            </a:r>
            <a:endParaRPr lang="en-US" sz="1300" dirty="0"/>
          </a:p>
          <a:p>
            <a:pPr marL="342900" indent="-342900">
              <a:lnSpc>
                <a:spcPct val="115000"/>
              </a:lnSpc>
              <a:buSzPct val="100000"/>
              <a:buChar char="•"/>
            </a:pPr>
            <a:endParaRPr lang="en-US" sz="1300" dirty="0"/>
          </a:p>
          <a:p>
            <a:pPr indent="0" marL="0">
              <a:lnSpc>
                <a:spcPct val="115000"/>
              </a:lnSpc>
              <a:buNone/>
            </a:pPr>
            <a:r>
              <a:rPr lang="en-US" sz="1300" b="1" dirty="0">
                <a:solidFill>
                  <a:srgbClr val="CEC528"/>
                </a:solidFill>
                <a:latin typeface="Jura" pitchFamily="34" charset="0"/>
                <a:ea typeface="Jura" pitchFamily="34" charset="-122"/>
                <a:cs typeface="Jura" pitchFamily="34" charset="-120"/>
              </a:rPr>
              <a:t>Why This Happens</a:t>
            </a:r>
            <a:endParaRPr lang="en-US" sz="1300" dirty="0"/>
          </a:p>
          <a:p>
            <a:pPr marL="342900" indent="-342900">
              <a:lnSpc>
                <a:spcPct val="115000"/>
              </a:lnSpc>
              <a:buSzPct val="100000"/>
              <a:buChar char="•"/>
            </a:pPr>
            <a:r>
              <a:rPr lang="en-US" sz="1100" dirty="0">
                <a:solidFill>
                  <a:srgbClr val="E9F3F3"/>
                </a:solidFill>
                <a:latin typeface="Jura" pitchFamily="34" charset="0"/>
                <a:ea typeface="Jura" pitchFamily="34" charset="-122"/>
                <a:cs typeface="Jura" pitchFamily="34" charset="-120"/>
              </a:rPr>
              <a:t>There is no structured, traceable path from "what we believe" to "what we build." Strategy lives in slide decks. OKRs live in spreadsheets. Value propositions live in someone's head. KPIs are retrofitted after launch. Kano analysis — if it happens at all — is disconnected from the VP. Product-market fit is declared, never measured.</a:t>
            </a:r>
            <a:endParaRPr lang="en-US" sz="1300" dirty="0"/>
          </a:p>
          <a:p>
            <a:pPr marL="342900" indent="-342900">
              <a:lnSpc>
                <a:spcPct val="115000"/>
              </a:lnSpc>
              <a:buSzPct val="100000"/>
              <a:buChar char="•"/>
            </a:pPr>
            <a:endParaRPr lang="en-US" sz="1300" dirty="0"/>
          </a:p>
          <a:p>
            <a:pPr indent="0" marL="0">
              <a:lnSpc>
                <a:spcPct val="115000"/>
              </a:lnSpc>
              <a:buNone/>
            </a:pPr>
            <a:r>
              <a:rPr lang="en-US" sz="1300" b="1" dirty="0">
                <a:solidFill>
                  <a:srgbClr val="CEC528"/>
                </a:solidFill>
                <a:latin typeface="Jura" pitchFamily="34" charset="0"/>
                <a:ea typeface="Jura" pitchFamily="34" charset="-122"/>
                <a:cs typeface="Jura" pitchFamily="34" charset="-120"/>
              </a:rPr>
              <a:t>The Cost</a:t>
            </a:r>
            <a:endParaRPr lang="en-US" sz="1300" dirty="0"/>
          </a:p>
          <a:p>
            <a:pPr marL="342900" indent="-342900">
              <a:lnSpc>
                <a:spcPct val="115000"/>
              </a:lnSpc>
              <a:buSzPct val="100000"/>
              <a:buChar char="•"/>
            </a:pPr>
            <a:r>
              <a:rPr lang="en-US" sz="1100" dirty="0">
                <a:solidFill>
                  <a:srgbClr val="E9F3F3"/>
                </a:solidFill>
                <a:latin typeface="Jura" pitchFamily="34" charset="0"/>
                <a:ea typeface="Jura" pitchFamily="34" charset="-122"/>
                <a:cs typeface="Jura" pitchFamily="34" charset="-120"/>
              </a:rPr>
              <a:t>Teams build products that solve problems nobody validated. Features are shipped that satisfy nobody's priority model. PoCs are launched without clear success criteria. The gap between strategy and execution is not a process failure — it is a structural one. The information exists, but it is not connected.</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05B6B"/>
        </a:solidFill>
      </p:bgPr>
    </p:bg>
    <p:spTree>
      <p:nvGrpSpPr>
        <p:cNvPr id="1" name=""/>
        <p:cNvGrpSpPr/>
        <p:nvPr/>
      </p:nvGrpSpPr>
      <p:grpSpPr>
        <a:xfrm>
          <a:off x="0" y="0"/>
          <a:ext cx="0" cy="0"/>
          <a:chOff x="0" y="0"/>
          <a:chExt cx="0" cy="0"/>
        </a:xfrm>
      </p:grpSpPr>
      <p:sp>
        <p:nvSpPr>
          <p:cNvPr id="2" name="Text 0"/>
          <p:cNvSpPr/>
          <p:nvPr/>
        </p:nvSpPr>
        <p:spPr>
          <a:xfrm>
            <a:off x="731520" y="1645920"/>
            <a:ext cx="1371600" cy="1371600"/>
          </a:xfrm>
          <a:prstGeom prst="rect">
            <a:avLst/>
          </a:prstGeom>
          <a:noFill/>
          <a:ln/>
        </p:spPr>
        <p:txBody>
          <a:bodyPr wrap="square" rtlCol="0" anchor="ctr"/>
          <a:lstStyle/>
          <a:p>
            <a:pPr indent="0" marL="0">
              <a:buNone/>
            </a:pPr>
            <a:r>
              <a:rPr lang="en-US" sz="4800" b="1" dirty="0">
                <a:solidFill>
                  <a:srgbClr val="00A4BF"/>
                </a:solidFill>
                <a:latin typeface="Jura" pitchFamily="34" charset="0"/>
                <a:ea typeface="Jura" pitchFamily="34" charset="-122"/>
                <a:cs typeface="Jura" pitchFamily="34" charset="-120"/>
              </a:rPr>
              <a:t>02</a:t>
            </a:r>
            <a:endParaRPr lang="en-US" sz="4800" dirty="0"/>
          </a:p>
        </p:txBody>
      </p:sp>
      <p:sp>
        <p:nvSpPr>
          <p:cNvPr id="3" name="Text 1"/>
          <p:cNvSpPr/>
          <p:nvPr/>
        </p:nvSpPr>
        <p:spPr>
          <a:xfrm>
            <a:off x="2286000" y="1645920"/>
            <a:ext cx="5943600" cy="731520"/>
          </a:xfrm>
          <a:prstGeom prst="rect">
            <a:avLst/>
          </a:prstGeom>
          <a:noFill/>
          <a:ln/>
        </p:spPr>
        <p:txBody>
          <a:bodyPr wrap="square" rtlCol="0" anchor="ctr"/>
          <a:lstStyle/>
          <a:p>
            <a:pPr indent="0" marL="0">
              <a:buNone/>
            </a:pPr>
            <a:r>
              <a:rPr lang="en-US" sz="2800" b="1" dirty="0">
                <a:solidFill>
                  <a:srgbClr val="E9F3F3"/>
                </a:solidFill>
                <a:latin typeface="Jura" pitchFamily="34" charset="0"/>
                <a:ea typeface="Jura" pitchFamily="34" charset="-122"/>
                <a:cs typeface="Jura" pitchFamily="34" charset="-120"/>
              </a:rPr>
              <a:t>Value Engineering</a:t>
            </a:r>
            <a:endParaRPr lang="en-US" sz="2800" dirty="0"/>
          </a:p>
        </p:txBody>
      </p:sp>
      <p:sp>
        <p:nvSpPr>
          <p:cNvPr id="4" name="Text 2"/>
          <p:cNvSpPr/>
          <p:nvPr/>
        </p:nvSpPr>
        <p:spPr>
          <a:xfrm>
            <a:off x="2286000" y="2468880"/>
            <a:ext cx="5943600" cy="548640"/>
          </a:xfrm>
          <a:prstGeom prst="rect">
            <a:avLst/>
          </a:prstGeom>
          <a:noFill/>
          <a:ln/>
        </p:spPr>
        <p:txBody>
          <a:bodyPr wrap="square" rtlCol="0" anchor="ctr"/>
          <a:lstStyle/>
          <a:p>
            <a:pPr indent="0" marL="0">
              <a:buNone/>
            </a:pPr>
            <a:r>
              <a:rPr lang="en-US" sz="1400" dirty="0">
                <a:solidFill>
                  <a:srgbClr val="CEC528"/>
                </a:solidFill>
                <a:latin typeface="Jura" pitchFamily="34" charset="0"/>
                <a:ea typeface="Jura" pitchFamily="34" charset="-122"/>
                <a:cs typeface="Jura" pitchFamily="34" charset="-120"/>
              </a:rPr>
              <a:t>The discipline that closes the gap</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03D48"/>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005B6B"/>
          </a:solidFill>
          <a:ln/>
        </p:spPr>
      </p:sp>
      <p:sp>
        <p:nvSpPr>
          <p:cNvPr id="3" name="Text 1"/>
          <p:cNvSpPr/>
          <p:nvPr/>
        </p:nvSpPr>
        <p:spPr>
          <a:xfrm>
            <a:off x="457200" y="91440"/>
            <a:ext cx="8229600" cy="548640"/>
          </a:xfrm>
          <a:prstGeom prst="rect">
            <a:avLst/>
          </a:prstGeom>
          <a:noFill/>
          <a:ln/>
        </p:spPr>
        <p:txBody>
          <a:bodyPr wrap="square" rtlCol="0" anchor="ctr"/>
          <a:lstStyle/>
          <a:p>
            <a:pPr indent="0" marL="0">
              <a:buNone/>
            </a:pPr>
            <a:r>
              <a:rPr lang="en-US" sz="1800" b="1" dirty="0">
                <a:solidFill>
                  <a:srgbClr val="00A4BF"/>
                </a:solidFill>
                <a:latin typeface="Jura" pitchFamily="34" charset="0"/>
                <a:ea typeface="Jura" pitchFamily="34" charset="-122"/>
                <a:cs typeface="Jura" pitchFamily="34" charset="-120"/>
              </a:rPr>
              <a:t>Value Engineering Is Strategic Rigour Applied to Product Thinking</a:t>
            </a:r>
            <a:endParaRPr lang="en-US" sz="1800" dirty="0"/>
          </a:p>
        </p:txBody>
      </p:sp>
      <p:sp>
        <p:nvSpPr>
          <p:cNvPr id="4" name="Text 2"/>
          <p:cNvSpPr/>
          <p:nvPr/>
        </p:nvSpPr>
        <p:spPr>
          <a:xfrm>
            <a:off x="457200" y="914400"/>
            <a:ext cx="7772400" cy="3840480"/>
          </a:xfrm>
          <a:prstGeom prst="rect">
            <a:avLst/>
          </a:prstGeom>
          <a:noFill/>
          <a:ln/>
        </p:spPr>
        <p:txBody>
          <a:bodyPr wrap="square" rtlCol="0" anchor="t"/>
          <a:lstStyle/>
          <a:p>
            <a:pPr indent="0" marL="0">
              <a:lnSpc>
                <a:spcPct val="115000"/>
              </a:lnSpc>
              <a:buNone/>
            </a:pPr>
            <a:r>
              <a:rPr lang="en-US" sz="1300" b="1" dirty="0">
                <a:solidFill>
                  <a:srgbClr val="CEC528"/>
                </a:solidFill>
                <a:latin typeface="Jura" pitchFamily="34" charset="0"/>
                <a:ea typeface="Jura" pitchFamily="34" charset="-122"/>
                <a:cs typeface="Jura" pitchFamily="34" charset="-120"/>
              </a:rPr>
              <a:t>Definition</a:t>
            </a:r>
            <a:endParaRPr lang="en-US" sz="1300" dirty="0"/>
          </a:p>
          <a:p>
            <a:pPr marL="342900" indent="-342900">
              <a:lnSpc>
                <a:spcPct val="115000"/>
              </a:lnSpc>
              <a:buSzPct val="100000"/>
              <a:buChar char="•"/>
            </a:pPr>
            <a:r>
              <a:rPr lang="en-US" sz="1100" dirty="0">
                <a:solidFill>
                  <a:srgbClr val="E9F3F3"/>
                </a:solidFill>
                <a:latin typeface="Jura" pitchFamily="34" charset="0"/>
                <a:ea typeface="Jura" pitchFamily="34" charset="-122"/>
                <a:cs typeface="Jura" pitchFamily="34" charset="-120"/>
              </a:rPr>
              <a:t>Value Engineering (VE) is the discipline of systematically translating strategic vision into validated, measurable value propositions that can be tested against real market conditions before a single line of code is written.</a:t>
            </a:r>
            <a:endParaRPr lang="en-US" sz="1300" dirty="0"/>
          </a:p>
          <a:p>
            <a:pPr marL="342900" indent="-342900">
              <a:lnSpc>
                <a:spcPct val="115000"/>
              </a:lnSpc>
              <a:buSzPct val="100000"/>
              <a:buChar char="•"/>
            </a:pPr>
            <a:endParaRPr lang="en-US" sz="1300" dirty="0"/>
          </a:p>
          <a:p>
            <a:pPr indent="0" marL="0">
              <a:lnSpc>
                <a:spcPct val="115000"/>
              </a:lnSpc>
              <a:buNone/>
            </a:pPr>
            <a:r>
              <a:rPr lang="en-US" sz="1300" b="1" dirty="0">
                <a:solidFill>
                  <a:srgbClr val="CEC528"/>
                </a:solidFill>
                <a:latin typeface="Jura" pitchFamily="34" charset="0"/>
                <a:ea typeface="Jura" pitchFamily="34" charset="-122"/>
                <a:cs typeface="Jura" pitchFamily="34" charset="-120"/>
              </a:rPr>
              <a:t>What VE Is Not</a:t>
            </a:r>
            <a:endParaRPr lang="en-US" sz="1300" dirty="0"/>
          </a:p>
          <a:p>
            <a:pPr marL="342900" indent="-342900">
              <a:lnSpc>
                <a:spcPct val="115000"/>
              </a:lnSpc>
              <a:buSzPct val="100000"/>
              <a:buChar char="•"/>
            </a:pPr>
            <a:r>
              <a:rPr lang="en-US" sz="1100" dirty="0">
                <a:solidFill>
                  <a:srgbClr val="E9F3F3"/>
                </a:solidFill>
                <a:latin typeface="Jura" pitchFamily="34" charset="0"/>
                <a:ea typeface="Jura" pitchFamily="34" charset="-122"/>
                <a:cs typeface="Jura" pitchFamily="34" charset="-120"/>
              </a:rPr>
              <a:t>It is not business analysis. It is not requirements gathering. It is not another framework to learn and forget. VE is the connective tissue between "why we exist" (Vision) and "what we should build next" (PRD). Every stage produces structured, machine-readable artefacts that the next stage consumes.</a:t>
            </a:r>
            <a:endParaRPr lang="en-US" sz="1300" dirty="0"/>
          </a:p>
          <a:p>
            <a:pPr marL="342900" indent="-342900">
              <a:lnSpc>
                <a:spcPct val="115000"/>
              </a:lnSpc>
              <a:buSzPct val="100000"/>
              <a:buChar char="•"/>
            </a:pPr>
            <a:endParaRPr lang="en-US" sz="1300" dirty="0"/>
          </a:p>
          <a:p>
            <a:pPr indent="0" marL="0">
              <a:lnSpc>
                <a:spcPct val="115000"/>
              </a:lnSpc>
              <a:buNone/>
            </a:pPr>
            <a:r>
              <a:rPr lang="en-US" sz="1300" b="1" dirty="0">
                <a:solidFill>
                  <a:srgbClr val="CEC528"/>
                </a:solidFill>
                <a:latin typeface="Jura" pitchFamily="34" charset="0"/>
                <a:ea typeface="Jura" pitchFamily="34" charset="-122"/>
                <a:cs typeface="Jura" pitchFamily="34" charset="-120"/>
              </a:rPr>
              <a:t>The Core Principle</a:t>
            </a:r>
            <a:endParaRPr lang="en-US" sz="1300" dirty="0"/>
          </a:p>
          <a:p>
            <a:pPr marL="342900" indent="-342900">
              <a:lnSpc>
                <a:spcPct val="115000"/>
              </a:lnSpc>
              <a:buSzPct val="100000"/>
              <a:buChar char="•"/>
            </a:pPr>
            <a:r>
              <a:rPr lang="en-US" sz="1100" dirty="0">
                <a:solidFill>
                  <a:srgbClr val="E9F3F3"/>
                </a:solidFill>
                <a:latin typeface="Jura" pitchFamily="34" charset="0"/>
                <a:ea typeface="Jura" pitchFamily="34" charset="-122"/>
                <a:cs typeface="Jura" pitchFamily="34" charset="-120"/>
              </a:rPr>
              <a:t>Nothing proceeds to execution without validation. The vision must decompose into measurable objectives. The objectives must decompose into testable propositions. The propositions must be validated against customer needs. The customer needs must be prioritised. The priorities must survive a product-market fit assessment. Only then does the PE chain receive a validated brief.</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03D48"/>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005B6B"/>
          </a:solidFill>
          <a:ln/>
        </p:spPr>
      </p:sp>
      <p:sp>
        <p:nvSpPr>
          <p:cNvPr id="3" name="Text 1"/>
          <p:cNvSpPr/>
          <p:nvPr/>
        </p:nvSpPr>
        <p:spPr>
          <a:xfrm>
            <a:off x="457200" y="91440"/>
            <a:ext cx="8229600" cy="548640"/>
          </a:xfrm>
          <a:prstGeom prst="rect">
            <a:avLst/>
          </a:prstGeom>
          <a:noFill/>
          <a:ln/>
        </p:spPr>
        <p:txBody>
          <a:bodyPr wrap="square" rtlCol="0" anchor="ctr"/>
          <a:lstStyle/>
          <a:p>
            <a:pPr indent="0" marL="0">
              <a:buNone/>
            </a:pPr>
            <a:r>
              <a:rPr lang="en-US" sz="1800" b="1" dirty="0">
                <a:solidFill>
                  <a:srgbClr val="00A4BF"/>
                </a:solidFill>
                <a:latin typeface="Jura" pitchFamily="34" charset="0"/>
                <a:ea typeface="Jura" pitchFamily="34" charset="-122"/>
                <a:cs typeface="Jura" pitchFamily="34" charset="-120"/>
              </a:rPr>
              <a:t>Why Ontologies — Not Documents — Are the Key</a:t>
            </a:r>
            <a:endParaRPr lang="en-US" sz="1800" dirty="0"/>
          </a:p>
        </p:txBody>
      </p:sp>
      <p:sp>
        <p:nvSpPr>
          <p:cNvPr id="4" name="Text 2"/>
          <p:cNvSpPr/>
          <p:nvPr/>
        </p:nvSpPr>
        <p:spPr>
          <a:xfrm>
            <a:off x="457200" y="914400"/>
            <a:ext cx="7772400" cy="3840480"/>
          </a:xfrm>
          <a:prstGeom prst="rect">
            <a:avLst/>
          </a:prstGeom>
          <a:noFill/>
          <a:ln/>
        </p:spPr>
        <p:txBody>
          <a:bodyPr wrap="square" rtlCol="0" anchor="t"/>
          <a:lstStyle/>
          <a:p>
            <a:pPr indent="0" marL="0">
              <a:lnSpc>
                <a:spcPct val="115000"/>
              </a:lnSpc>
              <a:buNone/>
            </a:pPr>
            <a:r>
              <a:rPr lang="en-US" sz="1300" b="1" dirty="0">
                <a:solidFill>
                  <a:srgbClr val="CEC528"/>
                </a:solidFill>
                <a:latin typeface="Jura" pitchFamily="34" charset="0"/>
                <a:ea typeface="Jura" pitchFamily="34" charset="-122"/>
                <a:cs typeface="Jura" pitchFamily="34" charset="-120"/>
              </a:rPr>
              <a:t>The Document Problem</a:t>
            </a:r>
            <a:endParaRPr lang="en-US" sz="1300" dirty="0"/>
          </a:p>
          <a:p>
            <a:pPr marL="342900" indent="-342900">
              <a:lnSpc>
                <a:spcPct val="115000"/>
              </a:lnSpc>
              <a:buSzPct val="100000"/>
              <a:buChar char="•"/>
            </a:pPr>
            <a:r>
              <a:rPr lang="en-US" sz="1100" dirty="0">
                <a:solidFill>
                  <a:srgbClr val="E9F3F3"/>
                </a:solidFill>
                <a:latin typeface="Jura" pitchFamily="34" charset="0"/>
                <a:ea typeface="Jura" pitchFamily="34" charset="-122"/>
                <a:cs typeface="Jura" pitchFamily="34" charset="-120"/>
              </a:rPr>
              <a:t>Strategy documents are write-once, read-never artefacts. They cannot be queried, composed, or validated by machines. An AI agent cannot traverse a PowerPoint deck to find which KPI traces to which strategic objective. A programme manager cannot ask "show me every feature that maps to our highest-severity customer pain."</a:t>
            </a:r>
            <a:endParaRPr lang="en-US" sz="1300" dirty="0"/>
          </a:p>
          <a:p>
            <a:pPr marL="342900" indent="-342900">
              <a:lnSpc>
                <a:spcPct val="115000"/>
              </a:lnSpc>
              <a:buSzPct val="100000"/>
              <a:buChar char="•"/>
            </a:pPr>
            <a:endParaRPr lang="en-US" sz="1300" dirty="0"/>
          </a:p>
          <a:p>
            <a:pPr indent="0" marL="0">
              <a:lnSpc>
                <a:spcPct val="115000"/>
              </a:lnSpc>
              <a:buNone/>
            </a:pPr>
            <a:r>
              <a:rPr lang="en-US" sz="1300" b="1" dirty="0">
                <a:solidFill>
                  <a:srgbClr val="CEC528"/>
                </a:solidFill>
                <a:latin typeface="Jura" pitchFamily="34" charset="0"/>
                <a:ea typeface="Jura" pitchFamily="34" charset="-122"/>
                <a:cs typeface="Jura" pitchFamily="34" charset="-120"/>
              </a:rPr>
              <a:t>The Ontology Solution</a:t>
            </a:r>
            <a:endParaRPr lang="en-US" sz="1300" dirty="0"/>
          </a:p>
          <a:p>
            <a:pPr marL="342900" indent="-342900">
              <a:lnSpc>
                <a:spcPct val="115000"/>
              </a:lnSpc>
              <a:buSzPct val="100000"/>
              <a:buChar char="•"/>
            </a:pPr>
            <a:r>
              <a:rPr lang="en-US" sz="1100" dirty="0">
                <a:solidFill>
                  <a:srgbClr val="E9F3F3"/>
                </a:solidFill>
                <a:latin typeface="Jura" pitchFamily="34" charset="0"/>
                <a:ea typeface="Jura" pitchFamily="34" charset="-122"/>
                <a:cs typeface="Jura" pitchFamily="34" charset="-120"/>
              </a:rPr>
              <a:t>Each VE stage is modelled as a formal ontology — a structured, typed, relationship-rich knowledge graph. VSOM-ONT captures vision and strategy. VP-ONT captures problems, solutions, and benefits. KPI-ONT captures metrics with BSC perspectives. Every entity has typed relationships to entities in other ontologies. The result is a single, traversable graph from vision to validated proposition.</a:t>
            </a:r>
            <a:endParaRPr lang="en-US" sz="1300" dirty="0"/>
          </a:p>
          <a:p>
            <a:pPr marL="342900" indent="-342900">
              <a:lnSpc>
                <a:spcPct val="115000"/>
              </a:lnSpc>
              <a:buSzPct val="100000"/>
              <a:buChar char="•"/>
            </a:pPr>
            <a:endParaRPr lang="en-US" sz="1300" dirty="0"/>
          </a:p>
          <a:p>
            <a:pPr indent="0" marL="0">
              <a:lnSpc>
                <a:spcPct val="115000"/>
              </a:lnSpc>
              <a:buNone/>
            </a:pPr>
            <a:r>
              <a:rPr lang="en-US" sz="1300" b="1" dirty="0">
                <a:solidFill>
                  <a:srgbClr val="CEC528"/>
                </a:solidFill>
                <a:latin typeface="Jura" pitchFamily="34" charset="0"/>
                <a:ea typeface="Jura" pitchFamily="34" charset="-122"/>
                <a:cs typeface="Jura" pitchFamily="34" charset="-120"/>
              </a:rPr>
              <a:t>The Practical Benefit</a:t>
            </a:r>
            <a:endParaRPr lang="en-US" sz="1300" dirty="0"/>
          </a:p>
          <a:p>
            <a:pPr marL="342900" indent="-342900">
              <a:lnSpc>
                <a:spcPct val="115000"/>
              </a:lnSpc>
              <a:buSzPct val="100000"/>
              <a:buChar char="•"/>
            </a:pPr>
            <a:r>
              <a:rPr lang="en-US" sz="1100" dirty="0">
                <a:solidFill>
                  <a:srgbClr val="E9F3F3"/>
                </a:solidFill>
                <a:latin typeface="Jura" pitchFamily="34" charset="0"/>
                <a:ea typeface="Jura" pitchFamily="34" charset="-122"/>
                <a:cs typeface="Jura" pitchFamily="34" charset="-120"/>
              </a:rPr>
              <a:t>An AI agent — or a human with the right tooling — can ask: "Which customer pain points are addressed by Strategy Pillar 3, measured by which KPIs, and validated at what Kano category?" The answer is a graph traversal, not a document search.</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05B6B"/>
        </a:solidFill>
      </p:bgPr>
    </p:bg>
    <p:spTree>
      <p:nvGrpSpPr>
        <p:cNvPr id="1" name=""/>
        <p:cNvGrpSpPr/>
        <p:nvPr/>
      </p:nvGrpSpPr>
      <p:grpSpPr>
        <a:xfrm>
          <a:off x="0" y="0"/>
          <a:ext cx="0" cy="0"/>
          <a:chOff x="0" y="0"/>
          <a:chExt cx="0" cy="0"/>
        </a:xfrm>
      </p:grpSpPr>
      <p:sp>
        <p:nvSpPr>
          <p:cNvPr id="2" name="Text 0"/>
          <p:cNvSpPr/>
          <p:nvPr/>
        </p:nvSpPr>
        <p:spPr>
          <a:xfrm>
            <a:off x="731520" y="1645920"/>
            <a:ext cx="1371600" cy="1371600"/>
          </a:xfrm>
          <a:prstGeom prst="rect">
            <a:avLst/>
          </a:prstGeom>
          <a:noFill/>
          <a:ln/>
        </p:spPr>
        <p:txBody>
          <a:bodyPr wrap="square" rtlCol="0" anchor="ctr"/>
          <a:lstStyle/>
          <a:p>
            <a:pPr indent="0" marL="0">
              <a:buNone/>
            </a:pPr>
            <a:r>
              <a:rPr lang="en-US" sz="4800" b="1" dirty="0">
                <a:solidFill>
                  <a:srgbClr val="00A4BF"/>
                </a:solidFill>
                <a:latin typeface="Jura" pitchFamily="34" charset="0"/>
                <a:ea typeface="Jura" pitchFamily="34" charset="-122"/>
                <a:cs typeface="Jura" pitchFamily="34" charset="-120"/>
              </a:rPr>
              <a:t>03</a:t>
            </a:r>
            <a:endParaRPr lang="en-US" sz="4800" dirty="0"/>
          </a:p>
        </p:txBody>
      </p:sp>
      <p:sp>
        <p:nvSpPr>
          <p:cNvPr id="3" name="Text 1"/>
          <p:cNvSpPr/>
          <p:nvPr/>
        </p:nvSpPr>
        <p:spPr>
          <a:xfrm>
            <a:off x="2286000" y="1645920"/>
            <a:ext cx="5943600" cy="731520"/>
          </a:xfrm>
          <a:prstGeom prst="rect">
            <a:avLst/>
          </a:prstGeom>
          <a:noFill/>
          <a:ln/>
        </p:spPr>
        <p:txBody>
          <a:bodyPr wrap="square" rtlCol="0" anchor="ctr"/>
          <a:lstStyle/>
          <a:p>
            <a:pPr indent="0" marL="0">
              <a:buNone/>
            </a:pPr>
            <a:r>
              <a:rPr lang="en-US" sz="2800" b="1" dirty="0">
                <a:solidFill>
                  <a:srgbClr val="E9F3F3"/>
                </a:solidFill>
                <a:latin typeface="Jura" pitchFamily="34" charset="0"/>
                <a:ea typeface="Jura" pitchFamily="34" charset="-122"/>
                <a:cs typeface="Jura" pitchFamily="34" charset="-120"/>
              </a:rPr>
              <a:t>The VE Skill Chain</a:t>
            </a:r>
            <a:endParaRPr lang="en-US" sz="2800" dirty="0"/>
          </a:p>
        </p:txBody>
      </p:sp>
      <p:sp>
        <p:nvSpPr>
          <p:cNvPr id="4" name="Text 2"/>
          <p:cNvSpPr/>
          <p:nvPr/>
        </p:nvSpPr>
        <p:spPr>
          <a:xfrm>
            <a:off x="2286000" y="2468880"/>
            <a:ext cx="5943600" cy="548640"/>
          </a:xfrm>
          <a:prstGeom prst="rect">
            <a:avLst/>
          </a:prstGeom>
          <a:noFill/>
          <a:ln/>
        </p:spPr>
        <p:txBody>
          <a:bodyPr wrap="square" rtlCol="0" anchor="ctr"/>
          <a:lstStyle/>
          <a:p>
            <a:pPr indent="0" marL="0">
              <a:buNone/>
            </a:pPr>
            <a:r>
              <a:rPr lang="en-US" sz="1400" dirty="0">
                <a:solidFill>
                  <a:srgbClr val="CEC528"/>
                </a:solidFill>
                <a:latin typeface="Jura" pitchFamily="34" charset="0"/>
                <a:ea typeface="Jura" pitchFamily="34" charset="-122"/>
                <a:cs typeface="Jura" pitchFamily="34" charset="-120"/>
              </a:rPr>
              <a:t>Six ontologies, one unbroken thread from vision to validation</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03D48"/>
        </a:solidFill>
      </p:bgPr>
    </p:bg>
    <p:spTree>
      <p:nvGrpSpPr>
        <p:cNvPr id="1" name=""/>
        <p:cNvGrpSpPr/>
        <p:nvPr/>
      </p:nvGrpSpPr>
      <p:grpSpPr>
        <a:xfrm>
          <a:off x="0" y="0"/>
          <a:ext cx="0" cy="0"/>
          <a:chOff x="0" y="0"/>
          <a:chExt cx="0" cy="0"/>
        </a:xfrm>
      </p:grpSpPr>
      <p:sp>
        <p:nvSpPr>
          <p:cNvPr id="2" name="Text 0"/>
          <p:cNvSpPr/>
          <p:nvPr/>
        </p:nvSpPr>
        <p:spPr>
          <a:xfrm>
            <a:off x="457200" y="182880"/>
            <a:ext cx="8229600" cy="457200"/>
          </a:xfrm>
          <a:prstGeom prst="rect">
            <a:avLst/>
          </a:prstGeom>
          <a:noFill/>
          <a:ln/>
        </p:spPr>
        <p:txBody>
          <a:bodyPr wrap="square" rtlCol="0" anchor="ctr"/>
          <a:lstStyle/>
          <a:p>
            <a:pPr indent="0" marL="0">
              <a:buNone/>
            </a:pPr>
            <a:r>
              <a:rPr lang="en-US" sz="1600" b="1" dirty="0">
                <a:solidFill>
                  <a:srgbClr val="00A4BF"/>
                </a:solidFill>
                <a:latin typeface="Jura" pitchFamily="34" charset="0"/>
                <a:ea typeface="Jura" pitchFamily="34" charset="-122"/>
                <a:cs typeface="Jura" pitchFamily="34" charset="-120"/>
              </a:rPr>
              <a:t>The Chain — Each Stage Builds on the Last</a:t>
            </a:r>
            <a:endParaRPr lang="en-US" sz="16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365760" y="822960"/>
          <a:ext cx="8412480" cy="914400"/>
        </p:xfrm>
        <a:graphic>
          <a:graphicData uri="http://schemas.openxmlformats.org/drawingml/2006/table">
            <a:tbl>
              <a:tblPr/>
              <a:tblGrid>
                <a:gridCol w="1371600"/>
                <a:gridCol w="1097280"/>
                <a:gridCol w="2743200"/>
                <a:gridCol w="2743200"/>
              </a:tblGrid>
              <a:tr h="384048">
                <a:tc>
                  <a:txBody>
                    <a:bodyPr/>
                    <a:lstStyle/>
                    <a:p>
                      <a:pPr indent="0" marL="0">
                        <a:buNone/>
                      </a:pPr>
                      <a:r>
                        <a:rPr lang="en-US" sz="1000" b="1" dirty="0">
                          <a:solidFill>
                            <a:srgbClr val="003D48"/>
                          </a:solidFill>
                          <a:latin typeface="Jura" pitchFamily="34" charset="0"/>
                          <a:ea typeface="Jura" pitchFamily="34" charset="-122"/>
                          <a:cs typeface="Jura" pitchFamily="34" charset="-120"/>
                        </a:rPr>
                        <a:t>Stage</a:t>
                      </a:r>
                      <a:endParaRPr lang="en-US" sz="1000" dirty="0">
                        <a:latin typeface="Jura" charset="0"/>
                        <a:ea typeface="Jura" charset="0"/>
                        <a:cs typeface="Jura" charset="0"/>
                      </a:endParaRPr>
                    </a:p>
                  </a:txBody>
                  <a:tcPr marL="91440" marR="91440" marT="45720" marB="45720">
                    <a:lnL w="6350" cap="flat" cmpd="sng" algn="ctr">
                      <a:solidFill>
                        <a:srgbClr val="2A3A4A"/>
                      </a:solidFill>
                      <a:prstDash val="solid"/>
                      <a:round/>
                      <a:headEnd type="none" w="med" len="med"/>
                      <a:tailEnd type="none" w="med" len="med"/>
                    </a:lnL>
                    <a:lnR w="6350" cap="flat" cmpd="sng" algn="ctr">
                      <a:solidFill>
                        <a:srgbClr val="2A3A4A"/>
                      </a:solidFill>
                      <a:prstDash val="solid"/>
                      <a:round/>
                      <a:headEnd type="none" w="med" len="med"/>
                      <a:tailEnd type="none" w="med" len="med"/>
                    </a:lnR>
                    <a:lnT w="6350" cap="flat" cmpd="sng" algn="ctr">
                      <a:solidFill>
                        <a:srgbClr val="2A3A4A"/>
                      </a:solidFill>
                      <a:prstDash val="solid"/>
                      <a:round/>
                      <a:headEnd type="none" w="med" len="med"/>
                      <a:tailEnd type="none" w="med" len="med"/>
                    </a:lnT>
                    <a:lnB w="6350" cap="flat" cmpd="sng" algn="ctr">
                      <a:solidFill>
                        <a:srgbClr val="2A3A4A"/>
                      </a:solidFill>
                      <a:prstDash val="solid"/>
                      <a:round/>
                      <a:headEnd type="none" w="med" len="med"/>
                      <a:tailEnd type="none" w="med" len="med"/>
                    </a:lnB>
                    <a:solidFill>
                      <a:srgbClr val="00A4BF"/>
                    </a:solidFill>
                  </a:tcPr>
                </a:tc>
                <a:tc>
                  <a:txBody>
                    <a:bodyPr/>
                    <a:lstStyle/>
                    <a:p>
                      <a:pPr indent="0" marL="0">
                        <a:buNone/>
                      </a:pPr>
                      <a:r>
                        <a:rPr lang="en-US" sz="1000" b="1" dirty="0">
                          <a:solidFill>
                            <a:srgbClr val="003D48"/>
                          </a:solidFill>
                          <a:latin typeface="Jura" pitchFamily="34" charset="0"/>
                          <a:ea typeface="Jura" pitchFamily="34" charset="-122"/>
                          <a:cs typeface="Jura" pitchFamily="34" charset="-120"/>
                        </a:rPr>
                        <a:t>Ontology</a:t>
                      </a:r>
                      <a:endParaRPr lang="en-US" sz="1000" dirty="0">
                        <a:latin typeface="Jura" charset="0"/>
                        <a:ea typeface="Jura" charset="0"/>
                        <a:cs typeface="Jura" charset="0"/>
                      </a:endParaRPr>
                    </a:p>
                  </a:txBody>
                  <a:tcPr marL="91440" marR="91440" marT="45720" marB="45720">
                    <a:lnL w="6350" cap="flat" cmpd="sng" algn="ctr">
                      <a:solidFill>
                        <a:srgbClr val="2A3A4A"/>
                      </a:solidFill>
                      <a:prstDash val="solid"/>
                      <a:round/>
                      <a:headEnd type="none" w="med" len="med"/>
                      <a:tailEnd type="none" w="med" len="med"/>
                    </a:lnL>
                    <a:lnR w="6350" cap="flat" cmpd="sng" algn="ctr">
                      <a:solidFill>
                        <a:srgbClr val="2A3A4A"/>
                      </a:solidFill>
                      <a:prstDash val="solid"/>
                      <a:round/>
                      <a:headEnd type="none" w="med" len="med"/>
                      <a:tailEnd type="none" w="med" len="med"/>
                    </a:lnR>
                    <a:lnT w="6350" cap="flat" cmpd="sng" algn="ctr">
                      <a:solidFill>
                        <a:srgbClr val="2A3A4A"/>
                      </a:solidFill>
                      <a:prstDash val="solid"/>
                      <a:round/>
                      <a:headEnd type="none" w="med" len="med"/>
                      <a:tailEnd type="none" w="med" len="med"/>
                    </a:lnT>
                    <a:lnB w="6350" cap="flat" cmpd="sng" algn="ctr">
                      <a:solidFill>
                        <a:srgbClr val="2A3A4A"/>
                      </a:solidFill>
                      <a:prstDash val="solid"/>
                      <a:round/>
                      <a:headEnd type="none" w="med" len="med"/>
                      <a:tailEnd type="none" w="med" len="med"/>
                    </a:lnB>
                    <a:solidFill>
                      <a:srgbClr val="00A4BF"/>
                    </a:solidFill>
                  </a:tcPr>
                </a:tc>
                <a:tc>
                  <a:txBody>
                    <a:bodyPr/>
                    <a:lstStyle/>
                    <a:p>
                      <a:pPr indent="0" marL="0">
                        <a:buNone/>
                      </a:pPr>
                      <a:r>
                        <a:rPr lang="en-US" sz="1000" b="1" dirty="0">
                          <a:solidFill>
                            <a:srgbClr val="003D48"/>
                          </a:solidFill>
                          <a:latin typeface="Jura" pitchFamily="34" charset="0"/>
                          <a:ea typeface="Jura" pitchFamily="34" charset="-122"/>
                          <a:cs typeface="Jura" pitchFamily="34" charset="-120"/>
                        </a:rPr>
                        <a:t>What It Produces</a:t>
                      </a:r>
                      <a:endParaRPr lang="en-US" sz="1000" dirty="0">
                        <a:latin typeface="Jura" charset="0"/>
                        <a:ea typeface="Jura" charset="0"/>
                        <a:cs typeface="Jura" charset="0"/>
                      </a:endParaRPr>
                    </a:p>
                  </a:txBody>
                  <a:tcPr marL="91440" marR="91440" marT="45720" marB="45720">
                    <a:lnL w="6350" cap="flat" cmpd="sng" algn="ctr">
                      <a:solidFill>
                        <a:srgbClr val="2A3A4A"/>
                      </a:solidFill>
                      <a:prstDash val="solid"/>
                      <a:round/>
                      <a:headEnd type="none" w="med" len="med"/>
                      <a:tailEnd type="none" w="med" len="med"/>
                    </a:lnL>
                    <a:lnR w="6350" cap="flat" cmpd="sng" algn="ctr">
                      <a:solidFill>
                        <a:srgbClr val="2A3A4A"/>
                      </a:solidFill>
                      <a:prstDash val="solid"/>
                      <a:round/>
                      <a:headEnd type="none" w="med" len="med"/>
                      <a:tailEnd type="none" w="med" len="med"/>
                    </a:lnR>
                    <a:lnT w="6350" cap="flat" cmpd="sng" algn="ctr">
                      <a:solidFill>
                        <a:srgbClr val="2A3A4A"/>
                      </a:solidFill>
                      <a:prstDash val="solid"/>
                      <a:round/>
                      <a:headEnd type="none" w="med" len="med"/>
                      <a:tailEnd type="none" w="med" len="med"/>
                    </a:lnT>
                    <a:lnB w="6350" cap="flat" cmpd="sng" algn="ctr">
                      <a:solidFill>
                        <a:srgbClr val="2A3A4A"/>
                      </a:solidFill>
                      <a:prstDash val="solid"/>
                      <a:round/>
                      <a:headEnd type="none" w="med" len="med"/>
                      <a:tailEnd type="none" w="med" len="med"/>
                    </a:lnB>
                    <a:solidFill>
                      <a:srgbClr val="00A4BF"/>
                    </a:solidFill>
                  </a:tcPr>
                </a:tc>
                <a:tc>
                  <a:txBody>
                    <a:bodyPr/>
                    <a:lstStyle/>
                    <a:p>
                      <a:pPr indent="0" marL="0">
                        <a:buNone/>
                      </a:pPr>
                      <a:r>
                        <a:rPr lang="en-US" sz="1000" b="1" dirty="0">
                          <a:solidFill>
                            <a:srgbClr val="003D48"/>
                          </a:solidFill>
                          <a:latin typeface="Jura" pitchFamily="34" charset="0"/>
                          <a:ea typeface="Jura" pitchFamily="34" charset="-122"/>
                          <a:cs typeface="Jura" pitchFamily="34" charset="-120"/>
                        </a:rPr>
                        <a:t>Key Question Answered</a:t>
                      </a:r>
                      <a:endParaRPr lang="en-US" sz="1000" dirty="0">
                        <a:latin typeface="Jura" charset="0"/>
                        <a:ea typeface="Jura" charset="0"/>
                        <a:cs typeface="Jura" charset="0"/>
                      </a:endParaRPr>
                    </a:p>
                  </a:txBody>
                  <a:tcPr marL="91440" marR="91440" marT="45720" marB="45720">
                    <a:lnL w="6350" cap="flat" cmpd="sng" algn="ctr">
                      <a:solidFill>
                        <a:srgbClr val="2A3A4A"/>
                      </a:solidFill>
                      <a:prstDash val="solid"/>
                      <a:round/>
                      <a:headEnd type="none" w="med" len="med"/>
                      <a:tailEnd type="none" w="med" len="med"/>
                    </a:lnL>
                    <a:lnR w="6350" cap="flat" cmpd="sng" algn="ctr">
                      <a:solidFill>
                        <a:srgbClr val="2A3A4A"/>
                      </a:solidFill>
                      <a:prstDash val="solid"/>
                      <a:round/>
                      <a:headEnd type="none" w="med" len="med"/>
                      <a:tailEnd type="none" w="med" len="med"/>
                    </a:lnR>
                    <a:lnT w="6350" cap="flat" cmpd="sng" algn="ctr">
                      <a:solidFill>
                        <a:srgbClr val="2A3A4A"/>
                      </a:solidFill>
                      <a:prstDash val="solid"/>
                      <a:round/>
                      <a:headEnd type="none" w="med" len="med"/>
                      <a:tailEnd type="none" w="med" len="med"/>
                    </a:lnT>
                    <a:lnB w="6350" cap="flat" cmpd="sng" algn="ctr">
                      <a:solidFill>
                        <a:srgbClr val="2A3A4A"/>
                      </a:solidFill>
                      <a:prstDash val="solid"/>
                      <a:round/>
                      <a:headEnd type="none" w="med" len="med"/>
                      <a:tailEnd type="none" w="med" len="med"/>
                    </a:lnB>
                    <a:solidFill>
                      <a:srgbClr val="00A4BF"/>
                    </a:solidFill>
                  </a:tcPr>
                </a:tc>
              </a:tr>
              <a:tr h="384048">
                <a:tc>
                  <a:txBody>
                    <a:bodyPr/>
                    <a:lstStyle/>
                    <a:p>
                      <a:pPr indent="0" marL="0">
                        <a:buNone/>
                      </a:pPr>
                      <a:r>
                        <a:rPr lang="en-US" sz="900" dirty="0">
                          <a:solidFill>
                            <a:srgbClr val="E9F3F3"/>
                          </a:solidFill>
                          <a:latin typeface="Jura" pitchFamily="34" charset="0"/>
                          <a:ea typeface="Jura" pitchFamily="34" charset="-122"/>
                          <a:cs typeface="Jura" pitchFamily="34" charset="-120"/>
                        </a:rPr>
                        <a:t>1. Vision &amp; Strategy</a:t>
                      </a:r>
                      <a:endParaRPr lang="en-US" sz="900" dirty="0">
                        <a:latin typeface="Jura" charset="0"/>
                        <a:ea typeface="Jura" charset="0"/>
                        <a:cs typeface="Jura" charset="0"/>
                      </a:endParaRPr>
                    </a:p>
                  </a:txBody>
                  <a:tcPr marL="91440" marR="91440" marT="45720" marB="45720">
                    <a:lnL w="6350" cap="flat" cmpd="sng" algn="ctr">
                      <a:solidFill>
                        <a:srgbClr val="2A3A4A"/>
                      </a:solidFill>
                      <a:prstDash val="solid"/>
                      <a:round/>
                      <a:headEnd type="none" w="med" len="med"/>
                      <a:tailEnd type="none" w="med" len="med"/>
                    </a:lnL>
                    <a:lnR w="6350" cap="flat" cmpd="sng" algn="ctr">
                      <a:solidFill>
                        <a:srgbClr val="2A3A4A"/>
                      </a:solidFill>
                      <a:prstDash val="solid"/>
                      <a:round/>
                      <a:headEnd type="none" w="med" len="med"/>
                      <a:tailEnd type="none" w="med" len="med"/>
                    </a:lnR>
                    <a:lnT w="6350" cap="flat" cmpd="sng" algn="ctr">
                      <a:solidFill>
                        <a:srgbClr val="2A3A4A"/>
                      </a:solidFill>
                      <a:prstDash val="solid"/>
                      <a:round/>
                      <a:headEnd type="none" w="med" len="med"/>
                      <a:tailEnd type="none" w="med" len="med"/>
                    </a:lnT>
                    <a:lnB w="6350" cap="flat" cmpd="sng" algn="ctr">
                      <a:solidFill>
                        <a:srgbClr val="2A3A4A"/>
                      </a:solidFill>
                      <a:prstDash val="solid"/>
                      <a:round/>
                      <a:headEnd type="none" w="med" len="med"/>
                      <a:tailEnd type="none" w="med" len="med"/>
                    </a:lnB>
                    <a:solidFill>
                      <a:srgbClr val="005B6B"/>
                    </a:solidFill>
                  </a:tcPr>
                </a:tc>
                <a:tc>
                  <a:txBody>
                    <a:bodyPr/>
                    <a:lstStyle/>
                    <a:p>
                      <a:pPr indent="0" marL="0">
                        <a:buNone/>
                      </a:pPr>
                      <a:r>
                        <a:rPr lang="en-US" sz="900" dirty="0">
                          <a:solidFill>
                            <a:srgbClr val="E9F3F3"/>
                          </a:solidFill>
                          <a:latin typeface="Jura" pitchFamily="34" charset="0"/>
                          <a:ea typeface="Jura" pitchFamily="34" charset="-122"/>
                          <a:cs typeface="Jura" pitchFamily="34" charset="-120"/>
                        </a:rPr>
                        <a:t>VSOM-ONT v2.1</a:t>
                      </a:r>
                      <a:endParaRPr lang="en-US" sz="900" dirty="0">
                        <a:latin typeface="Jura" charset="0"/>
                        <a:ea typeface="Jura" charset="0"/>
                        <a:cs typeface="Jura" charset="0"/>
                      </a:endParaRPr>
                    </a:p>
                  </a:txBody>
                  <a:tcPr marL="91440" marR="91440" marT="45720" marB="45720">
                    <a:lnL w="6350" cap="flat" cmpd="sng" algn="ctr">
                      <a:solidFill>
                        <a:srgbClr val="2A3A4A"/>
                      </a:solidFill>
                      <a:prstDash val="solid"/>
                      <a:round/>
                      <a:headEnd type="none" w="med" len="med"/>
                      <a:tailEnd type="none" w="med" len="med"/>
                    </a:lnL>
                    <a:lnR w="6350" cap="flat" cmpd="sng" algn="ctr">
                      <a:solidFill>
                        <a:srgbClr val="2A3A4A"/>
                      </a:solidFill>
                      <a:prstDash val="solid"/>
                      <a:round/>
                      <a:headEnd type="none" w="med" len="med"/>
                      <a:tailEnd type="none" w="med" len="med"/>
                    </a:lnR>
                    <a:lnT w="6350" cap="flat" cmpd="sng" algn="ctr">
                      <a:solidFill>
                        <a:srgbClr val="2A3A4A"/>
                      </a:solidFill>
                      <a:prstDash val="solid"/>
                      <a:round/>
                      <a:headEnd type="none" w="med" len="med"/>
                      <a:tailEnd type="none" w="med" len="med"/>
                    </a:lnT>
                    <a:lnB w="6350" cap="flat" cmpd="sng" algn="ctr">
                      <a:solidFill>
                        <a:srgbClr val="2A3A4A"/>
                      </a:solidFill>
                      <a:prstDash val="solid"/>
                      <a:round/>
                      <a:headEnd type="none" w="med" len="med"/>
                      <a:tailEnd type="none" w="med" len="med"/>
                    </a:lnB>
                    <a:solidFill>
                      <a:srgbClr val="005B6B"/>
                    </a:solidFill>
                  </a:tcPr>
                </a:tc>
                <a:tc>
                  <a:txBody>
                    <a:bodyPr/>
                    <a:lstStyle/>
                    <a:p>
                      <a:pPr indent="0" marL="0">
                        <a:buNone/>
                      </a:pPr>
                      <a:r>
                        <a:rPr lang="en-US" sz="900" dirty="0">
                          <a:solidFill>
                            <a:srgbClr val="E9F3F3"/>
                          </a:solidFill>
                          <a:latin typeface="Jura" pitchFamily="34" charset="0"/>
                          <a:ea typeface="Jura" pitchFamily="34" charset="-122"/>
                          <a:cs typeface="Jura" pitchFamily="34" charset="-120"/>
                        </a:rPr>
                        <a:t>Vision statement, strategy pillars, objectives, metrics cascade</a:t>
                      </a:r>
                      <a:endParaRPr lang="en-US" sz="900" dirty="0">
                        <a:latin typeface="Jura" charset="0"/>
                        <a:ea typeface="Jura" charset="0"/>
                        <a:cs typeface="Jura" charset="0"/>
                      </a:endParaRPr>
                    </a:p>
                  </a:txBody>
                  <a:tcPr marL="91440" marR="91440" marT="45720" marB="45720">
                    <a:lnL w="6350" cap="flat" cmpd="sng" algn="ctr">
                      <a:solidFill>
                        <a:srgbClr val="2A3A4A"/>
                      </a:solidFill>
                      <a:prstDash val="solid"/>
                      <a:round/>
                      <a:headEnd type="none" w="med" len="med"/>
                      <a:tailEnd type="none" w="med" len="med"/>
                    </a:lnL>
                    <a:lnR w="6350" cap="flat" cmpd="sng" algn="ctr">
                      <a:solidFill>
                        <a:srgbClr val="2A3A4A"/>
                      </a:solidFill>
                      <a:prstDash val="solid"/>
                      <a:round/>
                      <a:headEnd type="none" w="med" len="med"/>
                      <a:tailEnd type="none" w="med" len="med"/>
                    </a:lnR>
                    <a:lnT w="6350" cap="flat" cmpd="sng" algn="ctr">
                      <a:solidFill>
                        <a:srgbClr val="2A3A4A"/>
                      </a:solidFill>
                      <a:prstDash val="solid"/>
                      <a:round/>
                      <a:headEnd type="none" w="med" len="med"/>
                      <a:tailEnd type="none" w="med" len="med"/>
                    </a:lnT>
                    <a:lnB w="6350" cap="flat" cmpd="sng" algn="ctr">
                      <a:solidFill>
                        <a:srgbClr val="2A3A4A"/>
                      </a:solidFill>
                      <a:prstDash val="solid"/>
                      <a:round/>
                      <a:headEnd type="none" w="med" len="med"/>
                      <a:tailEnd type="none" w="med" len="med"/>
                    </a:lnB>
                    <a:solidFill>
                      <a:srgbClr val="005B6B"/>
                    </a:solidFill>
                  </a:tcPr>
                </a:tc>
                <a:tc>
                  <a:txBody>
                    <a:bodyPr/>
                    <a:lstStyle/>
                    <a:p>
                      <a:pPr indent="0" marL="0">
                        <a:buNone/>
                      </a:pPr>
                      <a:r>
                        <a:rPr lang="en-US" sz="900" dirty="0">
                          <a:solidFill>
                            <a:srgbClr val="E9F3F3"/>
                          </a:solidFill>
                          <a:latin typeface="Jura" pitchFamily="34" charset="0"/>
                          <a:ea typeface="Jura" pitchFamily="34" charset="-122"/>
                          <a:cs typeface="Jura" pitchFamily="34" charset="-120"/>
                        </a:rPr>
                        <a:t>Where are we going and how will we get there?</a:t>
                      </a:r>
                      <a:endParaRPr lang="en-US" sz="900" dirty="0">
                        <a:latin typeface="Jura" charset="0"/>
                        <a:ea typeface="Jura" charset="0"/>
                        <a:cs typeface="Jura" charset="0"/>
                      </a:endParaRPr>
                    </a:p>
                  </a:txBody>
                  <a:tcPr marL="91440" marR="91440" marT="45720" marB="45720">
                    <a:lnL w="6350" cap="flat" cmpd="sng" algn="ctr">
                      <a:solidFill>
                        <a:srgbClr val="2A3A4A"/>
                      </a:solidFill>
                      <a:prstDash val="solid"/>
                      <a:round/>
                      <a:headEnd type="none" w="med" len="med"/>
                      <a:tailEnd type="none" w="med" len="med"/>
                    </a:lnL>
                    <a:lnR w="6350" cap="flat" cmpd="sng" algn="ctr">
                      <a:solidFill>
                        <a:srgbClr val="2A3A4A"/>
                      </a:solidFill>
                      <a:prstDash val="solid"/>
                      <a:round/>
                      <a:headEnd type="none" w="med" len="med"/>
                      <a:tailEnd type="none" w="med" len="med"/>
                    </a:lnR>
                    <a:lnT w="6350" cap="flat" cmpd="sng" algn="ctr">
                      <a:solidFill>
                        <a:srgbClr val="2A3A4A"/>
                      </a:solidFill>
                      <a:prstDash val="solid"/>
                      <a:round/>
                      <a:headEnd type="none" w="med" len="med"/>
                      <a:tailEnd type="none" w="med" len="med"/>
                    </a:lnT>
                    <a:lnB w="6350" cap="flat" cmpd="sng" algn="ctr">
                      <a:solidFill>
                        <a:srgbClr val="2A3A4A"/>
                      </a:solidFill>
                      <a:prstDash val="solid"/>
                      <a:round/>
                      <a:headEnd type="none" w="med" len="med"/>
                      <a:tailEnd type="none" w="med" len="med"/>
                    </a:lnB>
                    <a:solidFill>
                      <a:srgbClr val="005B6B"/>
                    </a:solidFill>
                  </a:tcPr>
                </a:tc>
              </a:tr>
              <a:tr h="384048">
                <a:tc>
                  <a:txBody>
                    <a:bodyPr/>
                    <a:lstStyle/>
                    <a:p>
                      <a:pPr indent="0" marL="0">
                        <a:buNone/>
                      </a:pPr>
                      <a:r>
                        <a:rPr lang="en-US" sz="900" dirty="0">
                          <a:solidFill>
                            <a:srgbClr val="E9F3F3"/>
                          </a:solidFill>
                          <a:latin typeface="Jura" pitchFamily="34" charset="0"/>
                          <a:ea typeface="Jura" pitchFamily="34" charset="-122"/>
                          <a:cs typeface="Jura" pitchFamily="34" charset="-120"/>
                        </a:rPr>
                        <a:t>2. Objectives &amp; Results</a:t>
                      </a:r>
                      <a:endParaRPr lang="en-US" sz="900" dirty="0">
                        <a:latin typeface="Jura" charset="0"/>
                        <a:ea typeface="Jura" charset="0"/>
                        <a:cs typeface="Jura" charset="0"/>
                      </a:endParaRPr>
                    </a:p>
                  </a:txBody>
                  <a:tcPr marL="91440" marR="91440" marT="45720" marB="45720">
                    <a:lnL w="6350" cap="flat" cmpd="sng" algn="ctr">
                      <a:solidFill>
                        <a:srgbClr val="2A3A4A"/>
                      </a:solidFill>
                      <a:prstDash val="solid"/>
                      <a:round/>
                      <a:headEnd type="none" w="med" len="med"/>
                      <a:tailEnd type="none" w="med" len="med"/>
                    </a:lnL>
                    <a:lnR w="6350" cap="flat" cmpd="sng" algn="ctr">
                      <a:solidFill>
                        <a:srgbClr val="2A3A4A"/>
                      </a:solidFill>
                      <a:prstDash val="solid"/>
                      <a:round/>
                      <a:headEnd type="none" w="med" len="med"/>
                      <a:tailEnd type="none" w="med" len="med"/>
                    </a:lnR>
                    <a:lnT w="6350" cap="flat" cmpd="sng" algn="ctr">
                      <a:solidFill>
                        <a:srgbClr val="2A3A4A"/>
                      </a:solidFill>
                      <a:prstDash val="solid"/>
                      <a:round/>
                      <a:headEnd type="none" w="med" len="med"/>
                      <a:tailEnd type="none" w="med" len="med"/>
                    </a:lnT>
                    <a:lnB w="6350" cap="flat" cmpd="sng" algn="ctr">
                      <a:solidFill>
                        <a:srgbClr val="2A3A4A"/>
                      </a:solidFill>
                      <a:prstDash val="solid"/>
                      <a:round/>
                      <a:headEnd type="none" w="med" len="med"/>
                      <a:tailEnd type="none" w="med" len="med"/>
                    </a:lnB>
                    <a:solidFill>
                      <a:srgbClr val="005B6B"/>
                    </a:solidFill>
                  </a:tcPr>
                </a:tc>
                <a:tc>
                  <a:txBody>
                    <a:bodyPr/>
                    <a:lstStyle/>
                    <a:p>
                      <a:pPr indent="0" marL="0">
                        <a:buNone/>
                      </a:pPr>
                      <a:r>
                        <a:rPr lang="en-US" sz="900" dirty="0">
                          <a:solidFill>
                            <a:srgbClr val="E9F3F3"/>
                          </a:solidFill>
                          <a:latin typeface="Jura" pitchFamily="34" charset="0"/>
                          <a:ea typeface="Jura" pitchFamily="34" charset="-122"/>
                          <a:cs typeface="Jura" pitchFamily="34" charset="-120"/>
                        </a:rPr>
                        <a:t>OKR-ONT v1.0</a:t>
                      </a:r>
                      <a:endParaRPr lang="en-US" sz="900" dirty="0">
                        <a:latin typeface="Jura" charset="0"/>
                        <a:ea typeface="Jura" charset="0"/>
                        <a:cs typeface="Jura" charset="0"/>
                      </a:endParaRPr>
                    </a:p>
                  </a:txBody>
                  <a:tcPr marL="91440" marR="91440" marT="45720" marB="45720">
                    <a:lnL w="6350" cap="flat" cmpd="sng" algn="ctr">
                      <a:solidFill>
                        <a:srgbClr val="2A3A4A"/>
                      </a:solidFill>
                      <a:prstDash val="solid"/>
                      <a:round/>
                      <a:headEnd type="none" w="med" len="med"/>
                      <a:tailEnd type="none" w="med" len="med"/>
                    </a:lnL>
                    <a:lnR w="6350" cap="flat" cmpd="sng" algn="ctr">
                      <a:solidFill>
                        <a:srgbClr val="2A3A4A"/>
                      </a:solidFill>
                      <a:prstDash val="solid"/>
                      <a:round/>
                      <a:headEnd type="none" w="med" len="med"/>
                      <a:tailEnd type="none" w="med" len="med"/>
                    </a:lnR>
                    <a:lnT w="6350" cap="flat" cmpd="sng" algn="ctr">
                      <a:solidFill>
                        <a:srgbClr val="2A3A4A"/>
                      </a:solidFill>
                      <a:prstDash val="solid"/>
                      <a:round/>
                      <a:headEnd type="none" w="med" len="med"/>
                      <a:tailEnd type="none" w="med" len="med"/>
                    </a:lnT>
                    <a:lnB w="6350" cap="flat" cmpd="sng" algn="ctr">
                      <a:solidFill>
                        <a:srgbClr val="2A3A4A"/>
                      </a:solidFill>
                      <a:prstDash val="solid"/>
                      <a:round/>
                      <a:headEnd type="none" w="med" len="med"/>
                      <a:tailEnd type="none" w="med" len="med"/>
                    </a:lnB>
                    <a:solidFill>
                      <a:srgbClr val="005B6B"/>
                    </a:solidFill>
                  </a:tcPr>
                </a:tc>
                <a:tc>
                  <a:txBody>
                    <a:bodyPr/>
                    <a:lstStyle/>
                    <a:p>
                      <a:pPr indent="0" marL="0">
                        <a:buNone/>
                      </a:pPr>
                      <a:r>
                        <a:rPr lang="en-US" sz="900" dirty="0">
                          <a:solidFill>
                            <a:srgbClr val="E9F3F3"/>
                          </a:solidFill>
                          <a:latin typeface="Jura" pitchFamily="34" charset="0"/>
                          <a:ea typeface="Jura" pitchFamily="34" charset="-122"/>
                          <a:cs typeface="Jura" pitchFamily="34" charset="-120"/>
                        </a:rPr>
                        <a:t>Measurable objectives with time-bound key results</a:t>
                      </a:r>
                      <a:endParaRPr lang="en-US" sz="900" dirty="0">
                        <a:latin typeface="Jura" charset="0"/>
                        <a:ea typeface="Jura" charset="0"/>
                        <a:cs typeface="Jura" charset="0"/>
                      </a:endParaRPr>
                    </a:p>
                  </a:txBody>
                  <a:tcPr marL="91440" marR="91440" marT="45720" marB="45720">
                    <a:lnL w="6350" cap="flat" cmpd="sng" algn="ctr">
                      <a:solidFill>
                        <a:srgbClr val="2A3A4A"/>
                      </a:solidFill>
                      <a:prstDash val="solid"/>
                      <a:round/>
                      <a:headEnd type="none" w="med" len="med"/>
                      <a:tailEnd type="none" w="med" len="med"/>
                    </a:lnL>
                    <a:lnR w="6350" cap="flat" cmpd="sng" algn="ctr">
                      <a:solidFill>
                        <a:srgbClr val="2A3A4A"/>
                      </a:solidFill>
                      <a:prstDash val="solid"/>
                      <a:round/>
                      <a:headEnd type="none" w="med" len="med"/>
                      <a:tailEnd type="none" w="med" len="med"/>
                    </a:lnR>
                    <a:lnT w="6350" cap="flat" cmpd="sng" algn="ctr">
                      <a:solidFill>
                        <a:srgbClr val="2A3A4A"/>
                      </a:solidFill>
                      <a:prstDash val="solid"/>
                      <a:round/>
                      <a:headEnd type="none" w="med" len="med"/>
                      <a:tailEnd type="none" w="med" len="med"/>
                    </a:lnT>
                    <a:lnB w="6350" cap="flat" cmpd="sng" algn="ctr">
                      <a:solidFill>
                        <a:srgbClr val="2A3A4A"/>
                      </a:solidFill>
                      <a:prstDash val="solid"/>
                      <a:round/>
                      <a:headEnd type="none" w="med" len="med"/>
                      <a:tailEnd type="none" w="med" len="med"/>
                    </a:lnB>
                    <a:solidFill>
                      <a:srgbClr val="005B6B"/>
                    </a:solidFill>
                  </a:tcPr>
                </a:tc>
                <a:tc>
                  <a:txBody>
                    <a:bodyPr/>
                    <a:lstStyle/>
                    <a:p>
                      <a:pPr indent="0" marL="0">
                        <a:buNone/>
                      </a:pPr>
                      <a:r>
                        <a:rPr lang="en-US" sz="900" dirty="0">
                          <a:solidFill>
                            <a:srgbClr val="E9F3F3"/>
                          </a:solidFill>
                          <a:latin typeface="Jura" pitchFamily="34" charset="0"/>
                          <a:ea typeface="Jura" pitchFamily="34" charset="-122"/>
                          <a:cs typeface="Jura" pitchFamily="34" charset="-120"/>
                        </a:rPr>
                        <a:t>How will we know we are succeeding?</a:t>
                      </a:r>
                      <a:endParaRPr lang="en-US" sz="900" dirty="0">
                        <a:latin typeface="Jura" charset="0"/>
                        <a:ea typeface="Jura" charset="0"/>
                        <a:cs typeface="Jura" charset="0"/>
                      </a:endParaRPr>
                    </a:p>
                  </a:txBody>
                  <a:tcPr marL="91440" marR="91440" marT="45720" marB="45720">
                    <a:lnL w="6350" cap="flat" cmpd="sng" algn="ctr">
                      <a:solidFill>
                        <a:srgbClr val="2A3A4A"/>
                      </a:solidFill>
                      <a:prstDash val="solid"/>
                      <a:round/>
                      <a:headEnd type="none" w="med" len="med"/>
                      <a:tailEnd type="none" w="med" len="med"/>
                    </a:lnL>
                    <a:lnR w="6350" cap="flat" cmpd="sng" algn="ctr">
                      <a:solidFill>
                        <a:srgbClr val="2A3A4A"/>
                      </a:solidFill>
                      <a:prstDash val="solid"/>
                      <a:round/>
                      <a:headEnd type="none" w="med" len="med"/>
                      <a:tailEnd type="none" w="med" len="med"/>
                    </a:lnR>
                    <a:lnT w="6350" cap="flat" cmpd="sng" algn="ctr">
                      <a:solidFill>
                        <a:srgbClr val="2A3A4A"/>
                      </a:solidFill>
                      <a:prstDash val="solid"/>
                      <a:round/>
                      <a:headEnd type="none" w="med" len="med"/>
                      <a:tailEnd type="none" w="med" len="med"/>
                    </a:lnT>
                    <a:lnB w="6350" cap="flat" cmpd="sng" algn="ctr">
                      <a:solidFill>
                        <a:srgbClr val="2A3A4A"/>
                      </a:solidFill>
                      <a:prstDash val="solid"/>
                      <a:round/>
                      <a:headEnd type="none" w="med" len="med"/>
                      <a:tailEnd type="none" w="med" len="med"/>
                    </a:lnB>
                    <a:solidFill>
                      <a:srgbClr val="005B6B"/>
                    </a:solidFill>
                  </a:tcPr>
                </a:tc>
              </a:tr>
              <a:tr h="384048">
                <a:tc>
                  <a:txBody>
                    <a:bodyPr/>
                    <a:lstStyle/>
                    <a:p>
                      <a:pPr indent="0" marL="0">
                        <a:buNone/>
                      </a:pPr>
                      <a:r>
                        <a:rPr lang="en-US" sz="900" dirty="0">
                          <a:solidFill>
                            <a:srgbClr val="E9F3F3"/>
                          </a:solidFill>
                          <a:latin typeface="Jura" pitchFamily="34" charset="0"/>
                          <a:ea typeface="Jura" pitchFamily="34" charset="-122"/>
                          <a:cs typeface="Jura" pitchFamily="34" charset="-120"/>
                        </a:rPr>
                        <a:t>3. Performance Metrics</a:t>
                      </a:r>
                      <a:endParaRPr lang="en-US" sz="900" dirty="0">
                        <a:latin typeface="Jura" charset="0"/>
                        <a:ea typeface="Jura" charset="0"/>
                        <a:cs typeface="Jura" charset="0"/>
                      </a:endParaRPr>
                    </a:p>
                  </a:txBody>
                  <a:tcPr marL="91440" marR="91440" marT="45720" marB="45720">
                    <a:lnL w="6350" cap="flat" cmpd="sng" algn="ctr">
                      <a:solidFill>
                        <a:srgbClr val="2A3A4A"/>
                      </a:solidFill>
                      <a:prstDash val="solid"/>
                      <a:round/>
                      <a:headEnd type="none" w="med" len="med"/>
                      <a:tailEnd type="none" w="med" len="med"/>
                    </a:lnL>
                    <a:lnR w="6350" cap="flat" cmpd="sng" algn="ctr">
                      <a:solidFill>
                        <a:srgbClr val="2A3A4A"/>
                      </a:solidFill>
                      <a:prstDash val="solid"/>
                      <a:round/>
                      <a:headEnd type="none" w="med" len="med"/>
                      <a:tailEnd type="none" w="med" len="med"/>
                    </a:lnR>
                    <a:lnT w="6350" cap="flat" cmpd="sng" algn="ctr">
                      <a:solidFill>
                        <a:srgbClr val="2A3A4A"/>
                      </a:solidFill>
                      <a:prstDash val="solid"/>
                      <a:round/>
                      <a:headEnd type="none" w="med" len="med"/>
                      <a:tailEnd type="none" w="med" len="med"/>
                    </a:lnT>
                    <a:lnB w="6350" cap="flat" cmpd="sng" algn="ctr">
                      <a:solidFill>
                        <a:srgbClr val="2A3A4A"/>
                      </a:solidFill>
                      <a:prstDash val="solid"/>
                      <a:round/>
                      <a:headEnd type="none" w="med" len="med"/>
                      <a:tailEnd type="none" w="med" len="med"/>
                    </a:lnB>
                    <a:solidFill>
                      <a:srgbClr val="005B6B"/>
                    </a:solidFill>
                  </a:tcPr>
                </a:tc>
                <a:tc>
                  <a:txBody>
                    <a:bodyPr/>
                    <a:lstStyle/>
                    <a:p>
                      <a:pPr indent="0" marL="0">
                        <a:buNone/>
                      </a:pPr>
                      <a:r>
                        <a:rPr lang="en-US" sz="900" dirty="0">
                          <a:solidFill>
                            <a:srgbClr val="E9F3F3"/>
                          </a:solidFill>
                          <a:latin typeface="Jura" pitchFamily="34" charset="0"/>
                          <a:ea typeface="Jura" pitchFamily="34" charset="-122"/>
                          <a:cs typeface="Jura" pitchFamily="34" charset="-120"/>
                        </a:rPr>
                        <a:t>KPI-ONT v1.0</a:t>
                      </a:r>
                      <a:endParaRPr lang="en-US" sz="900" dirty="0">
                        <a:latin typeface="Jura" charset="0"/>
                        <a:ea typeface="Jura" charset="0"/>
                        <a:cs typeface="Jura" charset="0"/>
                      </a:endParaRPr>
                    </a:p>
                  </a:txBody>
                  <a:tcPr marL="91440" marR="91440" marT="45720" marB="45720">
                    <a:lnL w="6350" cap="flat" cmpd="sng" algn="ctr">
                      <a:solidFill>
                        <a:srgbClr val="2A3A4A"/>
                      </a:solidFill>
                      <a:prstDash val="solid"/>
                      <a:round/>
                      <a:headEnd type="none" w="med" len="med"/>
                      <a:tailEnd type="none" w="med" len="med"/>
                    </a:lnL>
                    <a:lnR w="6350" cap="flat" cmpd="sng" algn="ctr">
                      <a:solidFill>
                        <a:srgbClr val="2A3A4A"/>
                      </a:solidFill>
                      <a:prstDash val="solid"/>
                      <a:round/>
                      <a:headEnd type="none" w="med" len="med"/>
                      <a:tailEnd type="none" w="med" len="med"/>
                    </a:lnR>
                    <a:lnT w="6350" cap="flat" cmpd="sng" algn="ctr">
                      <a:solidFill>
                        <a:srgbClr val="2A3A4A"/>
                      </a:solidFill>
                      <a:prstDash val="solid"/>
                      <a:round/>
                      <a:headEnd type="none" w="med" len="med"/>
                      <a:tailEnd type="none" w="med" len="med"/>
                    </a:lnT>
                    <a:lnB w="6350" cap="flat" cmpd="sng" algn="ctr">
                      <a:solidFill>
                        <a:srgbClr val="2A3A4A"/>
                      </a:solidFill>
                      <a:prstDash val="solid"/>
                      <a:round/>
                      <a:headEnd type="none" w="med" len="med"/>
                      <a:tailEnd type="none" w="med" len="med"/>
                    </a:lnB>
                    <a:solidFill>
                      <a:srgbClr val="005B6B"/>
                    </a:solidFill>
                  </a:tcPr>
                </a:tc>
                <a:tc>
                  <a:txBody>
                    <a:bodyPr/>
                    <a:lstStyle/>
                    <a:p>
                      <a:pPr indent="0" marL="0">
                        <a:buNone/>
                      </a:pPr>
                      <a:r>
                        <a:rPr lang="en-US" sz="900" dirty="0">
                          <a:solidFill>
                            <a:srgbClr val="E9F3F3"/>
                          </a:solidFill>
                          <a:latin typeface="Jura" pitchFamily="34" charset="0"/>
                          <a:ea typeface="Jura" pitchFamily="34" charset="-122"/>
                          <a:cs typeface="Jura" pitchFamily="34" charset="-120"/>
                        </a:rPr>
                        <a:t>KPIs mapped to BSC perspectives (Financial, Customer, Process, Learning)</a:t>
                      </a:r>
                      <a:endParaRPr lang="en-US" sz="900" dirty="0">
                        <a:latin typeface="Jura" charset="0"/>
                        <a:ea typeface="Jura" charset="0"/>
                        <a:cs typeface="Jura" charset="0"/>
                      </a:endParaRPr>
                    </a:p>
                  </a:txBody>
                  <a:tcPr marL="91440" marR="91440" marT="45720" marB="45720">
                    <a:lnL w="6350" cap="flat" cmpd="sng" algn="ctr">
                      <a:solidFill>
                        <a:srgbClr val="2A3A4A"/>
                      </a:solidFill>
                      <a:prstDash val="solid"/>
                      <a:round/>
                      <a:headEnd type="none" w="med" len="med"/>
                      <a:tailEnd type="none" w="med" len="med"/>
                    </a:lnL>
                    <a:lnR w="6350" cap="flat" cmpd="sng" algn="ctr">
                      <a:solidFill>
                        <a:srgbClr val="2A3A4A"/>
                      </a:solidFill>
                      <a:prstDash val="solid"/>
                      <a:round/>
                      <a:headEnd type="none" w="med" len="med"/>
                      <a:tailEnd type="none" w="med" len="med"/>
                    </a:lnR>
                    <a:lnT w="6350" cap="flat" cmpd="sng" algn="ctr">
                      <a:solidFill>
                        <a:srgbClr val="2A3A4A"/>
                      </a:solidFill>
                      <a:prstDash val="solid"/>
                      <a:round/>
                      <a:headEnd type="none" w="med" len="med"/>
                      <a:tailEnd type="none" w="med" len="med"/>
                    </a:lnT>
                    <a:lnB w="6350" cap="flat" cmpd="sng" algn="ctr">
                      <a:solidFill>
                        <a:srgbClr val="2A3A4A"/>
                      </a:solidFill>
                      <a:prstDash val="solid"/>
                      <a:round/>
                      <a:headEnd type="none" w="med" len="med"/>
                      <a:tailEnd type="none" w="med" len="med"/>
                    </a:lnB>
                    <a:solidFill>
                      <a:srgbClr val="005B6B"/>
                    </a:solidFill>
                  </a:tcPr>
                </a:tc>
                <a:tc>
                  <a:txBody>
                    <a:bodyPr/>
                    <a:lstStyle/>
                    <a:p>
                      <a:pPr indent="0" marL="0">
                        <a:buNone/>
                      </a:pPr>
                      <a:r>
                        <a:rPr lang="en-US" sz="900" dirty="0">
                          <a:solidFill>
                            <a:srgbClr val="E9F3F3"/>
                          </a:solidFill>
                          <a:latin typeface="Jura" pitchFamily="34" charset="0"/>
                          <a:ea typeface="Jura" pitchFamily="34" charset="-122"/>
                          <a:cs typeface="Jura" pitchFamily="34" charset="-120"/>
                        </a:rPr>
                        <a:t>What exactly do we measure, and from whose perspective?</a:t>
                      </a:r>
                      <a:endParaRPr lang="en-US" sz="900" dirty="0">
                        <a:latin typeface="Jura" charset="0"/>
                        <a:ea typeface="Jura" charset="0"/>
                        <a:cs typeface="Jura" charset="0"/>
                      </a:endParaRPr>
                    </a:p>
                  </a:txBody>
                  <a:tcPr marL="91440" marR="91440" marT="45720" marB="45720">
                    <a:lnL w="6350" cap="flat" cmpd="sng" algn="ctr">
                      <a:solidFill>
                        <a:srgbClr val="2A3A4A"/>
                      </a:solidFill>
                      <a:prstDash val="solid"/>
                      <a:round/>
                      <a:headEnd type="none" w="med" len="med"/>
                      <a:tailEnd type="none" w="med" len="med"/>
                    </a:lnL>
                    <a:lnR w="6350" cap="flat" cmpd="sng" algn="ctr">
                      <a:solidFill>
                        <a:srgbClr val="2A3A4A"/>
                      </a:solidFill>
                      <a:prstDash val="solid"/>
                      <a:round/>
                      <a:headEnd type="none" w="med" len="med"/>
                      <a:tailEnd type="none" w="med" len="med"/>
                    </a:lnR>
                    <a:lnT w="6350" cap="flat" cmpd="sng" algn="ctr">
                      <a:solidFill>
                        <a:srgbClr val="2A3A4A"/>
                      </a:solidFill>
                      <a:prstDash val="solid"/>
                      <a:round/>
                      <a:headEnd type="none" w="med" len="med"/>
                      <a:tailEnd type="none" w="med" len="med"/>
                    </a:lnT>
                    <a:lnB w="6350" cap="flat" cmpd="sng" algn="ctr">
                      <a:solidFill>
                        <a:srgbClr val="2A3A4A"/>
                      </a:solidFill>
                      <a:prstDash val="solid"/>
                      <a:round/>
                      <a:headEnd type="none" w="med" len="med"/>
                      <a:tailEnd type="none" w="med" len="med"/>
                    </a:lnB>
                    <a:solidFill>
                      <a:srgbClr val="005B6B"/>
                    </a:solidFill>
                  </a:tcPr>
                </a:tc>
              </a:tr>
              <a:tr h="384048">
                <a:tc>
                  <a:txBody>
                    <a:bodyPr/>
                    <a:lstStyle/>
                    <a:p>
                      <a:pPr indent="0" marL="0">
                        <a:buNone/>
                      </a:pPr>
                      <a:r>
                        <a:rPr lang="en-US" sz="900" dirty="0">
                          <a:solidFill>
                            <a:srgbClr val="E9F3F3"/>
                          </a:solidFill>
                          <a:latin typeface="Jura" pitchFamily="34" charset="0"/>
                          <a:ea typeface="Jura" pitchFamily="34" charset="-122"/>
                          <a:cs typeface="Jura" pitchFamily="34" charset="-120"/>
                        </a:rPr>
                        <a:t>4. Value Proposition</a:t>
                      </a:r>
                      <a:endParaRPr lang="en-US" sz="900" dirty="0">
                        <a:latin typeface="Jura" charset="0"/>
                        <a:ea typeface="Jura" charset="0"/>
                        <a:cs typeface="Jura" charset="0"/>
                      </a:endParaRPr>
                    </a:p>
                  </a:txBody>
                  <a:tcPr marL="91440" marR="91440" marT="45720" marB="45720">
                    <a:lnL w="6350" cap="flat" cmpd="sng" algn="ctr">
                      <a:solidFill>
                        <a:srgbClr val="2A3A4A"/>
                      </a:solidFill>
                      <a:prstDash val="solid"/>
                      <a:round/>
                      <a:headEnd type="none" w="med" len="med"/>
                      <a:tailEnd type="none" w="med" len="med"/>
                    </a:lnL>
                    <a:lnR w="6350" cap="flat" cmpd="sng" algn="ctr">
                      <a:solidFill>
                        <a:srgbClr val="2A3A4A"/>
                      </a:solidFill>
                      <a:prstDash val="solid"/>
                      <a:round/>
                      <a:headEnd type="none" w="med" len="med"/>
                      <a:tailEnd type="none" w="med" len="med"/>
                    </a:lnR>
                    <a:lnT w="6350" cap="flat" cmpd="sng" algn="ctr">
                      <a:solidFill>
                        <a:srgbClr val="2A3A4A"/>
                      </a:solidFill>
                      <a:prstDash val="solid"/>
                      <a:round/>
                      <a:headEnd type="none" w="med" len="med"/>
                      <a:tailEnd type="none" w="med" len="med"/>
                    </a:lnT>
                    <a:lnB w="6350" cap="flat" cmpd="sng" algn="ctr">
                      <a:solidFill>
                        <a:srgbClr val="2A3A4A"/>
                      </a:solidFill>
                      <a:prstDash val="solid"/>
                      <a:round/>
                      <a:headEnd type="none" w="med" len="med"/>
                      <a:tailEnd type="none" w="med" len="med"/>
                    </a:lnB>
                    <a:solidFill>
                      <a:srgbClr val="005B6B"/>
                    </a:solidFill>
                  </a:tcPr>
                </a:tc>
                <a:tc>
                  <a:txBody>
                    <a:bodyPr/>
                    <a:lstStyle/>
                    <a:p>
                      <a:pPr indent="0" marL="0">
                        <a:buNone/>
                      </a:pPr>
                      <a:r>
                        <a:rPr lang="en-US" sz="900" dirty="0">
                          <a:solidFill>
                            <a:srgbClr val="E9F3F3"/>
                          </a:solidFill>
                          <a:latin typeface="Jura" pitchFamily="34" charset="0"/>
                          <a:ea typeface="Jura" pitchFamily="34" charset="-122"/>
                          <a:cs typeface="Jura" pitchFamily="34" charset="-120"/>
                        </a:rPr>
                        <a:t>VP-ONT v1.2</a:t>
                      </a:r>
                      <a:endParaRPr lang="en-US" sz="900" dirty="0">
                        <a:latin typeface="Jura" charset="0"/>
                        <a:ea typeface="Jura" charset="0"/>
                        <a:cs typeface="Jura" charset="0"/>
                      </a:endParaRPr>
                    </a:p>
                  </a:txBody>
                  <a:tcPr marL="91440" marR="91440" marT="45720" marB="45720">
                    <a:lnL w="6350" cap="flat" cmpd="sng" algn="ctr">
                      <a:solidFill>
                        <a:srgbClr val="2A3A4A"/>
                      </a:solidFill>
                      <a:prstDash val="solid"/>
                      <a:round/>
                      <a:headEnd type="none" w="med" len="med"/>
                      <a:tailEnd type="none" w="med" len="med"/>
                    </a:lnL>
                    <a:lnR w="6350" cap="flat" cmpd="sng" algn="ctr">
                      <a:solidFill>
                        <a:srgbClr val="2A3A4A"/>
                      </a:solidFill>
                      <a:prstDash val="solid"/>
                      <a:round/>
                      <a:headEnd type="none" w="med" len="med"/>
                      <a:tailEnd type="none" w="med" len="med"/>
                    </a:lnR>
                    <a:lnT w="6350" cap="flat" cmpd="sng" algn="ctr">
                      <a:solidFill>
                        <a:srgbClr val="2A3A4A"/>
                      </a:solidFill>
                      <a:prstDash val="solid"/>
                      <a:round/>
                      <a:headEnd type="none" w="med" len="med"/>
                      <a:tailEnd type="none" w="med" len="med"/>
                    </a:lnT>
                    <a:lnB w="6350" cap="flat" cmpd="sng" algn="ctr">
                      <a:solidFill>
                        <a:srgbClr val="2A3A4A"/>
                      </a:solidFill>
                      <a:prstDash val="solid"/>
                      <a:round/>
                      <a:headEnd type="none" w="med" len="med"/>
                      <a:tailEnd type="none" w="med" len="med"/>
                    </a:lnB>
                    <a:solidFill>
                      <a:srgbClr val="005B6B"/>
                    </a:solidFill>
                  </a:tcPr>
                </a:tc>
                <a:tc>
                  <a:txBody>
                    <a:bodyPr/>
                    <a:lstStyle/>
                    <a:p>
                      <a:pPr indent="0" marL="0">
                        <a:buNone/>
                      </a:pPr>
                      <a:r>
                        <a:rPr lang="en-US" sz="900" dirty="0">
                          <a:solidFill>
                            <a:srgbClr val="E9F3F3"/>
                          </a:solidFill>
                          <a:latin typeface="Jura" pitchFamily="34" charset="0"/>
                          <a:ea typeface="Jura" pitchFamily="34" charset="-122"/>
                          <a:cs typeface="Jura" pitchFamily="34" charset="-120"/>
                        </a:rPr>
                        <a:t>ICPs, problems, pains, solutions, benefits — all traced to strategy</a:t>
                      </a:r>
                      <a:endParaRPr lang="en-US" sz="900" dirty="0">
                        <a:latin typeface="Jura" charset="0"/>
                        <a:ea typeface="Jura" charset="0"/>
                        <a:cs typeface="Jura" charset="0"/>
                      </a:endParaRPr>
                    </a:p>
                  </a:txBody>
                  <a:tcPr marL="91440" marR="91440" marT="45720" marB="45720">
                    <a:lnL w="6350" cap="flat" cmpd="sng" algn="ctr">
                      <a:solidFill>
                        <a:srgbClr val="2A3A4A"/>
                      </a:solidFill>
                      <a:prstDash val="solid"/>
                      <a:round/>
                      <a:headEnd type="none" w="med" len="med"/>
                      <a:tailEnd type="none" w="med" len="med"/>
                    </a:lnL>
                    <a:lnR w="6350" cap="flat" cmpd="sng" algn="ctr">
                      <a:solidFill>
                        <a:srgbClr val="2A3A4A"/>
                      </a:solidFill>
                      <a:prstDash val="solid"/>
                      <a:round/>
                      <a:headEnd type="none" w="med" len="med"/>
                      <a:tailEnd type="none" w="med" len="med"/>
                    </a:lnR>
                    <a:lnT w="6350" cap="flat" cmpd="sng" algn="ctr">
                      <a:solidFill>
                        <a:srgbClr val="2A3A4A"/>
                      </a:solidFill>
                      <a:prstDash val="solid"/>
                      <a:round/>
                      <a:headEnd type="none" w="med" len="med"/>
                      <a:tailEnd type="none" w="med" len="med"/>
                    </a:lnT>
                    <a:lnB w="6350" cap="flat" cmpd="sng" algn="ctr">
                      <a:solidFill>
                        <a:srgbClr val="2A3A4A"/>
                      </a:solidFill>
                      <a:prstDash val="solid"/>
                      <a:round/>
                      <a:headEnd type="none" w="med" len="med"/>
                      <a:tailEnd type="none" w="med" len="med"/>
                    </a:lnB>
                    <a:solidFill>
                      <a:srgbClr val="005B6B"/>
                    </a:solidFill>
                  </a:tcPr>
                </a:tc>
                <a:tc>
                  <a:txBody>
                    <a:bodyPr/>
                    <a:lstStyle/>
                    <a:p>
                      <a:pPr indent="0" marL="0">
                        <a:buNone/>
                      </a:pPr>
                      <a:r>
                        <a:rPr lang="en-US" sz="900" dirty="0">
                          <a:solidFill>
                            <a:srgbClr val="E9F3F3"/>
                          </a:solidFill>
                          <a:latin typeface="Jura" pitchFamily="34" charset="0"/>
                          <a:ea typeface="Jura" pitchFamily="34" charset="-122"/>
                          <a:cs typeface="Jura" pitchFamily="34" charset="-120"/>
                        </a:rPr>
                        <a:t>Who are we serving, what pains do they have, and what value do we deliver?</a:t>
                      </a:r>
                      <a:endParaRPr lang="en-US" sz="900" dirty="0">
                        <a:latin typeface="Jura" charset="0"/>
                        <a:ea typeface="Jura" charset="0"/>
                        <a:cs typeface="Jura" charset="0"/>
                      </a:endParaRPr>
                    </a:p>
                  </a:txBody>
                  <a:tcPr marL="91440" marR="91440" marT="45720" marB="45720">
                    <a:lnL w="6350" cap="flat" cmpd="sng" algn="ctr">
                      <a:solidFill>
                        <a:srgbClr val="2A3A4A"/>
                      </a:solidFill>
                      <a:prstDash val="solid"/>
                      <a:round/>
                      <a:headEnd type="none" w="med" len="med"/>
                      <a:tailEnd type="none" w="med" len="med"/>
                    </a:lnL>
                    <a:lnR w="6350" cap="flat" cmpd="sng" algn="ctr">
                      <a:solidFill>
                        <a:srgbClr val="2A3A4A"/>
                      </a:solidFill>
                      <a:prstDash val="solid"/>
                      <a:round/>
                      <a:headEnd type="none" w="med" len="med"/>
                      <a:tailEnd type="none" w="med" len="med"/>
                    </a:lnR>
                    <a:lnT w="6350" cap="flat" cmpd="sng" algn="ctr">
                      <a:solidFill>
                        <a:srgbClr val="2A3A4A"/>
                      </a:solidFill>
                      <a:prstDash val="solid"/>
                      <a:round/>
                      <a:headEnd type="none" w="med" len="med"/>
                      <a:tailEnd type="none" w="med" len="med"/>
                    </a:lnT>
                    <a:lnB w="6350" cap="flat" cmpd="sng" algn="ctr">
                      <a:solidFill>
                        <a:srgbClr val="2A3A4A"/>
                      </a:solidFill>
                      <a:prstDash val="solid"/>
                      <a:round/>
                      <a:headEnd type="none" w="med" len="med"/>
                      <a:tailEnd type="none" w="med" len="med"/>
                    </a:lnB>
                    <a:solidFill>
                      <a:srgbClr val="005B6B"/>
                    </a:solidFill>
                  </a:tcPr>
                </a:tc>
              </a:tr>
              <a:tr h="384048">
                <a:tc>
                  <a:txBody>
                    <a:bodyPr/>
                    <a:lstStyle/>
                    <a:p>
                      <a:pPr indent="0" marL="0">
                        <a:buNone/>
                      </a:pPr>
                      <a:r>
                        <a:rPr lang="en-US" sz="900" dirty="0">
                          <a:solidFill>
                            <a:srgbClr val="E9F3F3"/>
                          </a:solidFill>
                          <a:latin typeface="Jura" pitchFamily="34" charset="0"/>
                          <a:ea typeface="Jura" pitchFamily="34" charset="-122"/>
                          <a:cs typeface="Jura" pitchFamily="34" charset="-120"/>
                        </a:rPr>
                        <a:t>5. Feature Priority</a:t>
                      </a:r>
                      <a:endParaRPr lang="en-US" sz="900" dirty="0">
                        <a:latin typeface="Jura" charset="0"/>
                        <a:ea typeface="Jura" charset="0"/>
                        <a:cs typeface="Jura" charset="0"/>
                      </a:endParaRPr>
                    </a:p>
                  </a:txBody>
                  <a:tcPr marL="91440" marR="91440" marT="45720" marB="45720">
                    <a:lnL w="6350" cap="flat" cmpd="sng" algn="ctr">
                      <a:solidFill>
                        <a:srgbClr val="2A3A4A"/>
                      </a:solidFill>
                      <a:prstDash val="solid"/>
                      <a:round/>
                      <a:headEnd type="none" w="med" len="med"/>
                      <a:tailEnd type="none" w="med" len="med"/>
                    </a:lnL>
                    <a:lnR w="6350" cap="flat" cmpd="sng" algn="ctr">
                      <a:solidFill>
                        <a:srgbClr val="2A3A4A"/>
                      </a:solidFill>
                      <a:prstDash val="solid"/>
                      <a:round/>
                      <a:headEnd type="none" w="med" len="med"/>
                      <a:tailEnd type="none" w="med" len="med"/>
                    </a:lnR>
                    <a:lnT w="6350" cap="flat" cmpd="sng" algn="ctr">
                      <a:solidFill>
                        <a:srgbClr val="2A3A4A"/>
                      </a:solidFill>
                      <a:prstDash val="solid"/>
                      <a:round/>
                      <a:headEnd type="none" w="med" len="med"/>
                      <a:tailEnd type="none" w="med" len="med"/>
                    </a:lnT>
                    <a:lnB w="6350" cap="flat" cmpd="sng" algn="ctr">
                      <a:solidFill>
                        <a:srgbClr val="2A3A4A"/>
                      </a:solidFill>
                      <a:prstDash val="solid"/>
                      <a:round/>
                      <a:headEnd type="none" w="med" len="med"/>
                      <a:tailEnd type="none" w="med" len="med"/>
                    </a:lnB>
                    <a:solidFill>
                      <a:srgbClr val="005B6B"/>
                    </a:solidFill>
                  </a:tcPr>
                </a:tc>
                <a:tc>
                  <a:txBody>
                    <a:bodyPr/>
                    <a:lstStyle/>
                    <a:p>
                      <a:pPr indent="0" marL="0">
                        <a:buNone/>
                      </a:pPr>
                      <a:r>
                        <a:rPr lang="en-US" sz="900" dirty="0">
                          <a:solidFill>
                            <a:srgbClr val="E9F3F3"/>
                          </a:solidFill>
                          <a:latin typeface="Jura" pitchFamily="34" charset="0"/>
                          <a:ea typeface="Jura" pitchFamily="34" charset="-122"/>
                          <a:cs typeface="Jura" pitchFamily="34" charset="-120"/>
                        </a:rPr>
                        <a:t>Kano-ONT</a:t>
                      </a:r>
                      <a:endParaRPr lang="en-US" sz="900" dirty="0">
                        <a:latin typeface="Jura" charset="0"/>
                        <a:ea typeface="Jura" charset="0"/>
                        <a:cs typeface="Jura" charset="0"/>
                      </a:endParaRPr>
                    </a:p>
                  </a:txBody>
                  <a:tcPr marL="91440" marR="91440" marT="45720" marB="45720">
                    <a:lnL w="6350" cap="flat" cmpd="sng" algn="ctr">
                      <a:solidFill>
                        <a:srgbClr val="2A3A4A"/>
                      </a:solidFill>
                      <a:prstDash val="solid"/>
                      <a:round/>
                      <a:headEnd type="none" w="med" len="med"/>
                      <a:tailEnd type="none" w="med" len="med"/>
                    </a:lnL>
                    <a:lnR w="6350" cap="flat" cmpd="sng" algn="ctr">
                      <a:solidFill>
                        <a:srgbClr val="2A3A4A"/>
                      </a:solidFill>
                      <a:prstDash val="solid"/>
                      <a:round/>
                      <a:headEnd type="none" w="med" len="med"/>
                      <a:tailEnd type="none" w="med" len="med"/>
                    </a:lnR>
                    <a:lnT w="6350" cap="flat" cmpd="sng" algn="ctr">
                      <a:solidFill>
                        <a:srgbClr val="2A3A4A"/>
                      </a:solidFill>
                      <a:prstDash val="solid"/>
                      <a:round/>
                      <a:headEnd type="none" w="med" len="med"/>
                      <a:tailEnd type="none" w="med" len="med"/>
                    </a:lnT>
                    <a:lnB w="6350" cap="flat" cmpd="sng" algn="ctr">
                      <a:solidFill>
                        <a:srgbClr val="2A3A4A"/>
                      </a:solidFill>
                      <a:prstDash val="solid"/>
                      <a:round/>
                      <a:headEnd type="none" w="med" len="med"/>
                      <a:tailEnd type="none" w="med" len="med"/>
                    </a:lnB>
                    <a:solidFill>
                      <a:srgbClr val="005B6B"/>
                    </a:solidFill>
                  </a:tcPr>
                </a:tc>
                <a:tc>
                  <a:txBody>
                    <a:bodyPr/>
                    <a:lstStyle/>
                    <a:p>
                      <a:pPr indent="0" marL="0">
                        <a:buNone/>
                      </a:pPr>
                      <a:r>
                        <a:rPr lang="en-US" sz="900" dirty="0">
                          <a:solidFill>
                            <a:srgbClr val="E9F3F3"/>
                          </a:solidFill>
                          <a:latin typeface="Jura" pitchFamily="34" charset="0"/>
                          <a:ea typeface="Jura" pitchFamily="34" charset="-122"/>
                          <a:cs typeface="Jura" pitchFamily="34" charset="-120"/>
                        </a:rPr>
                        <a:t>Features classified as Must-Be, Performance, or Excitement per segment</a:t>
                      </a:r>
                      <a:endParaRPr lang="en-US" sz="900" dirty="0">
                        <a:latin typeface="Jura" charset="0"/>
                        <a:ea typeface="Jura" charset="0"/>
                        <a:cs typeface="Jura" charset="0"/>
                      </a:endParaRPr>
                    </a:p>
                  </a:txBody>
                  <a:tcPr marL="91440" marR="91440" marT="45720" marB="45720">
                    <a:lnL w="6350" cap="flat" cmpd="sng" algn="ctr">
                      <a:solidFill>
                        <a:srgbClr val="2A3A4A"/>
                      </a:solidFill>
                      <a:prstDash val="solid"/>
                      <a:round/>
                      <a:headEnd type="none" w="med" len="med"/>
                      <a:tailEnd type="none" w="med" len="med"/>
                    </a:lnL>
                    <a:lnR w="6350" cap="flat" cmpd="sng" algn="ctr">
                      <a:solidFill>
                        <a:srgbClr val="2A3A4A"/>
                      </a:solidFill>
                      <a:prstDash val="solid"/>
                      <a:round/>
                      <a:headEnd type="none" w="med" len="med"/>
                      <a:tailEnd type="none" w="med" len="med"/>
                    </a:lnR>
                    <a:lnT w="6350" cap="flat" cmpd="sng" algn="ctr">
                      <a:solidFill>
                        <a:srgbClr val="2A3A4A"/>
                      </a:solidFill>
                      <a:prstDash val="solid"/>
                      <a:round/>
                      <a:headEnd type="none" w="med" len="med"/>
                      <a:tailEnd type="none" w="med" len="med"/>
                    </a:lnT>
                    <a:lnB w="6350" cap="flat" cmpd="sng" algn="ctr">
                      <a:solidFill>
                        <a:srgbClr val="2A3A4A"/>
                      </a:solidFill>
                      <a:prstDash val="solid"/>
                      <a:round/>
                      <a:headEnd type="none" w="med" len="med"/>
                      <a:tailEnd type="none" w="med" len="med"/>
                    </a:lnB>
                    <a:solidFill>
                      <a:srgbClr val="005B6B"/>
                    </a:solidFill>
                  </a:tcPr>
                </a:tc>
                <a:tc>
                  <a:txBody>
                    <a:bodyPr/>
                    <a:lstStyle/>
                    <a:p>
                      <a:pPr indent="0" marL="0">
                        <a:buNone/>
                      </a:pPr>
                      <a:r>
                        <a:rPr lang="en-US" sz="900" dirty="0">
                          <a:solidFill>
                            <a:srgbClr val="E9F3F3"/>
                          </a:solidFill>
                          <a:latin typeface="Jura" pitchFamily="34" charset="0"/>
                          <a:ea typeface="Jura" pitchFamily="34" charset="-122"/>
                          <a:cs typeface="Jura" pitchFamily="34" charset="-120"/>
                        </a:rPr>
                        <a:t>Which features matter most to which customers, and why?</a:t>
                      </a:r>
                      <a:endParaRPr lang="en-US" sz="900" dirty="0">
                        <a:latin typeface="Jura" charset="0"/>
                        <a:ea typeface="Jura" charset="0"/>
                        <a:cs typeface="Jura" charset="0"/>
                      </a:endParaRPr>
                    </a:p>
                  </a:txBody>
                  <a:tcPr marL="91440" marR="91440" marT="45720" marB="45720">
                    <a:lnL w="6350" cap="flat" cmpd="sng" algn="ctr">
                      <a:solidFill>
                        <a:srgbClr val="2A3A4A"/>
                      </a:solidFill>
                      <a:prstDash val="solid"/>
                      <a:round/>
                      <a:headEnd type="none" w="med" len="med"/>
                      <a:tailEnd type="none" w="med" len="med"/>
                    </a:lnL>
                    <a:lnR w="6350" cap="flat" cmpd="sng" algn="ctr">
                      <a:solidFill>
                        <a:srgbClr val="2A3A4A"/>
                      </a:solidFill>
                      <a:prstDash val="solid"/>
                      <a:round/>
                      <a:headEnd type="none" w="med" len="med"/>
                      <a:tailEnd type="none" w="med" len="med"/>
                    </a:lnR>
                    <a:lnT w="6350" cap="flat" cmpd="sng" algn="ctr">
                      <a:solidFill>
                        <a:srgbClr val="2A3A4A"/>
                      </a:solidFill>
                      <a:prstDash val="solid"/>
                      <a:round/>
                      <a:headEnd type="none" w="med" len="med"/>
                      <a:tailEnd type="none" w="med" len="med"/>
                    </a:lnT>
                    <a:lnB w="6350" cap="flat" cmpd="sng" algn="ctr">
                      <a:solidFill>
                        <a:srgbClr val="2A3A4A"/>
                      </a:solidFill>
                      <a:prstDash val="solid"/>
                      <a:round/>
                      <a:headEnd type="none" w="med" len="med"/>
                      <a:tailEnd type="none" w="med" len="med"/>
                    </a:lnB>
                    <a:solidFill>
                      <a:srgbClr val="005B6B"/>
                    </a:solidFill>
                  </a:tcPr>
                </a:tc>
              </a:tr>
              <a:tr h="384048">
                <a:tc>
                  <a:txBody>
                    <a:bodyPr/>
                    <a:lstStyle/>
                    <a:p>
                      <a:pPr indent="0" marL="0">
                        <a:buNone/>
                      </a:pPr>
                      <a:r>
                        <a:rPr lang="en-US" sz="900" dirty="0">
                          <a:solidFill>
                            <a:srgbClr val="E9F3F3"/>
                          </a:solidFill>
                          <a:latin typeface="Jura" pitchFamily="34" charset="0"/>
                          <a:ea typeface="Jura" pitchFamily="34" charset="-122"/>
                          <a:cs typeface="Jura" pitchFamily="34" charset="-120"/>
                        </a:rPr>
                        <a:t>6. Market Validation</a:t>
                      </a:r>
                      <a:endParaRPr lang="en-US" sz="900" dirty="0">
                        <a:latin typeface="Jura" charset="0"/>
                        <a:ea typeface="Jura" charset="0"/>
                        <a:cs typeface="Jura" charset="0"/>
                      </a:endParaRPr>
                    </a:p>
                  </a:txBody>
                  <a:tcPr marL="91440" marR="91440" marT="45720" marB="45720">
                    <a:lnL w="6350" cap="flat" cmpd="sng" algn="ctr">
                      <a:solidFill>
                        <a:srgbClr val="2A3A4A"/>
                      </a:solidFill>
                      <a:prstDash val="solid"/>
                      <a:round/>
                      <a:headEnd type="none" w="med" len="med"/>
                      <a:tailEnd type="none" w="med" len="med"/>
                    </a:lnL>
                    <a:lnR w="6350" cap="flat" cmpd="sng" algn="ctr">
                      <a:solidFill>
                        <a:srgbClr val="2A3A4A"/>
                      </a:solidFill>
                      <a:prstDash val="solid"/>
                      <a:round/>
                      <a:headEnd type="none" w="med" len="med"/>
                      <a:tailEnd type="none" w="med" len="med"/>
                    </a:lnR>
                    <a:lnT w="6350" cap="flat" cmpd="sng" algn="ctr">
                      <a:solidFill>
                        <a:srgbClr val="2A3A4A"/>
                      </a:solidFill>
                      <a:prstDash val="solid"/>
                      <a:round/>
                      <a:headEnd type="none" w="med" len="med"/>
                      <a:tailEnd type="none" w="med" len="med"/>
                    </a:lnT>
                    <a:lnB w="6350" cap="flat" cmpd="sng" algn="ctr">
                      <a:solidFill>
                        <a:srgbClr val="2A3A4A"/>
                      </a:solidFill>
                      <a:prstDash val="solid"/>
                      <a:round/>
                      <a:headEnd type="none" w="med" len="med"/>
                      <a:tailEnd type="none" w="med" len="med"/>
                    </a:lnB>
                    <a:solidFill>
                      <a:srgbClr val="005B6B"/>
                    </a:solidFill>
                  </a:tcPr>
                </a:tc>
                <a:tc>
                  <a:txBody>
                    <a:bodyPr/>
                    <a:lstStyle/>
                    <a:p>
                      <a:pPr indent="0" marL="0">
                        <a:buNone/>
                      </a:pPr>
                      <a:r>
                        <a:rPr lang="en-US" sz="900" dirty="0">
                          <a:solidFill>
                            <a:srgbClr val="E9F3F3"/>
                          </a:solidFill>
                          <a:latin typeface="Jura" pitchFamily="34" charset="0"/>
                          <a:ea typeface="Jura" pitchFamily="34" charset="-122"/>
                          <a:cs typeface="Jura" pitchFamily="34" charset="-120"/>
                        </a:rPr>
                        <a:t>PMF-ONT v1.0</a:t>
                      </a:r>
                      <a:endParaRPr lang="en-US" sz="900" dirty="0">
                        <a:latin typeface="Jura" charset="0"/>
                        <a:ea typeface="Jura" charset="0"/>
                        <a:cs typeface="Jura" charset="0"/>
                      </a:endParaRPr>
                    </a:p>
                  </a:txBody>
                  <a:tcPr marL="91440" marR="91440" marT="45720" marB="45720">
                    <a:lnL w="6350" cap="flat" cmpd="sng" algn="ctr">
                      <a:solidFill>
                        <a:srgbClr val="2A3A4A"/>
                      </a:solidFill>
                      <a:prstDash val="solid"/>
                      <a:round/>
                      <a:headEnd type="none" w="med" len="med"/>
                      <a:tailEnd type="none" w="med" len="med"/>
                    </a:lnL>
                    <a:lnR w="6350" cap="flat" cmpd="sng" algn="ctr">
                      <a:solidFill>
                        <a:srgbClr val="2A3A4A"/>
                      </a:solidFill>
                      <a:prstDash val="solid"/>
                      <a:round/>
                      <a:headEnd type="none" w="med" len="med"/>
                      <a:tailEnd type="none" w="med" len="med"/>
                    </a:lnR>
                    <a:lnT w="6350" cap="flat" cmpd="sng" algn="ctr">
                      <a:solidFill>
                        <a:srgbClr val="2A3A4A"/>
                      </a:solidFill>
                      <a:prstDash val="solid"/>
                      <a:round/>
                      <a:headEnd type="none" w="med" len="med"/>
                      <a:tailEnd type="none" w="med" len="med"/>
                    </a:lnT>
                    <a:lnB w="6350" cap="flat" cmpd="sng" algn="ctr">
                      <a:solidFill>
                        <a:srgbClr val="2A3A4A"/>
                      </a:solidFill>
                      <a:prstDash val="solid"/>
                      <a:round/>
                      <a:headEnd type="none" w="med" len="med"/>
                      <a:tailEnd type="none" w="med" len="med"/>
                    </a:lnB>
                    <a:solidFill>
                      <a:srgbClr val="005B6B"/>
                    </a:solidFill>
                  </a:tcPr>
                </a:tc>
                <a:tc>
                  <a:txBody>
                    <a:bodyPr/>
                    <a:lstStyle/>
                    <a:p>
                      <a:pPr indent="0" marL="0">
                        <a:buNone/>
                      </a:pPr>
                      <a:r>
                        <a:rPr lang="en-US" sz="900" dirty="0">
                          <a:solidFill>
                            <a:srgbClr val="E9F3F3"/>
                          </a:solidFill>
                          <a:latin typeface="Jura" pitchFamily="34" charset="0"/>
                          <a:ea typeface="Jura" pitchFamily="34" charset="-122"/>
                          <a:cs typeface="Jura" pitchFamily="34" charset="-120"/>
                        </a:rPr>
                        <a:t>Sean Ellis score, willingness-to-pay, competitive positioning, launch readiness</a:t>
                      </a:r>
                      <a:endParaRPr lang="en-US" sz="900" dirty="0">
                        <a:latin typeface="Jura" charset="0"/>
                        <a:ea typeface="Jura" charset="0"/>
                        <a:cs typeface="Jura" charset="0"/>
                      </a:endParaRPr>
                    </a:p>
                  </a:txBody>
                  <a:tcPr marL="91440" marR="91440" marT="45720" marB="45720">
                    <a:lnL w="6350" cap="flat" cmpd="sng" algn="ctr">
                      <a:solidFill>
                        <a:srgbClr val="2A3A4A"/>
                      </a:solidFill>
                      <a:prstDash val="solid"/>
                      <a:round/>
                      <a:headEnd type="none" w="med" len="med"/>
                      <a:tailEnd type="none" w="med" len="med"/>
                    </a:lnL>
                    <a:lnR w="6350" cap="flat" cmpd="sng" algn="ctr">
                      <a:solidFill>
                        <a:srgbClr val="2A3A4A"/>
                      </a:solidFill>
                      <a:prstDash val="solid"/>
                      <a:round/>
                      <a:headEnd type="none" w="med" len="med"/>
                      <a:tailEnd type="none" w="med" len="med"/>
                    </a:lnR>
                    <a:lnT w="6350" cap="flat" cmpd="sng" algn="ctr">
                      <a:solidFill>
                        <a:srgbClr val="2A3A4A"/>
                      </a:solidFill>
                      <a:prstDash val="solid"/>
                      <a:round/>
                      <a:headEnd type="none" w="med" len="med"/>
                      <a:tailEnd type="none" w="med" len="med"/>
                    </a:lnT>
                    <a:lnB w="6350" cap="flat" cmpd="sng" algn="ctr">
                      <a:solidFill>
                        <a:srgbClr val="2A3A4A"/>
                      </a:solidFill>
                      <a:prstDash val="solid"/>
                      <a:round/>
                      <a:headEnd type="none" w="med" len="med"/>
                      <a:tailEnd type="none" w="med" len="med"/>
                    </a:lnB>
                    <a:solidFill>
                      <a:srgbClr val="005B6B"/>
                    </a:solidFill>
                  </a:tcPr>
                </a:tc>
                <a:tc>
                  <a:txBody>
                    <a:bodyPr/>
                    <a:lstStyle/>
                    <a:p>
                      <a:pPr indent="0" marL="0">
                        <a:buNone/>
                      </a:pPr>
                      <a:r>
                        <a:rPr lang="en-US" sz="900" dirty="0">
                          <a:solidFill>
                            <a:srgbClr val="E9F3F3"/>
                          </a:solidFill>
                          <a:latin typeface="Jura" pitchFamily="34" charset="0"/>
                          <a:ea typeface="Jura" pitchFamily="34" charset="-122"/>
                          <a:cs typeface="Jura" pitchFamily="34" charset="-120"/>
                        </a:rPr>
                        <a:t>Is there a real market for this, and are we ready to enter it?</a:t>
                      </a:r>
                      <a:endParaRPr lang="en-US" sz="900" dirty="0">
                        <a:latin typeface="Jura" charset="0"/>
                        <a:ea typeface="Jura" charset="0"/>
                        <a:cs typeface="Jura" charset="0"/>
                      </a:endParaRPr>
                    </a:p>
                  </a:txBody>
                  <a:tcPr marL="91440" marR="91440" marT="45720" marB="45720">
                    <a:lnL w="6350" cap="flat" cmpd="sng" algn="ctr">
                      <a:solidFill>
                        <a:srgbClr val="2A3A4A"/>
                      </a:solidFill>
                      <a:prstDash val="solid"/>
                      <a:round/>
                      <a:headEnd type="none" w="med" len="med"/>
                      <a:tailEnd type="none" w="med" len="med"/>
                    </a:lnL>
                    <a:lnR w="6350" cap="flat" cmpd="sng" algn="ctr">
                      <a:solidFill>
                        <a:srgbClr val="2A3A4A"/>
                      </a:solidFill>
                      <a:prstDash val="solid"/>
                      <a:round/>
                      <a:headEnd type="none" w="med" len="med"/>
                      <a:tailEnd type="none" w="med" len="med"/>
                    </a:lnR>
                    <a:lnT w="6350" cap="flat" cmpd="sng" algn="ctr">
                      <a:solidFill>
                        <a:srgbClr val="2A3A4A"/>
                      </a:solidFill>
                      <a:prstDash val="solid"/>
                      <a:round/>
                      <a:headEnd type="none" w="med" len="med"/>
                      <a:tailEnd type="none" w="med" len="med"/>
                    </a:lnT>
                    <a:lnB w="6350" cap="flat" cmpd="sng" algn="ctr">
                      <a:solidFill>
                        <a:srgbClr val="2A3A4A"/>
                      </a:solidFill>
                      <a:prstDash val="solid"/>
                      <a:round/>
                      <a:headEnd type="none" w="med" len="med"/>
                      <a:tailEnd type="none" w="med" len="med"/>
                    </a:lnB>
                    <a:solidFill>
                      <a:srgbClr val="005B6B"/>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03D48"/>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005B6B"/>
          </a:solidFill>
          <a:ln/>
        </p:spPr>
      </p:sp>
      <p:sp>
        <p:nvSpPr>
          <p:cNvPr id="3" name="Text 1"/>
          <p:cNvSpPr/>
          <p:nvPr/>
        </p:nvSpPr>
        <p:spPr>
          <a:xfrm>
            <a:off x="457200" y="91440"/>
            <a:ext cx="8229600" cy="548640"/>
          </a:xfrm>
          <a:prstGeom prst="rect">
            <a:avLst/>
          </a:prstGeom>
          <a:noFill/>
          <a:ln/>
        </p:spPr>
        <p:txBody>
          <a:bodyPr wrap="square" rtlCol="0" anchor="ctr"/>
          <a:lstStyle/>
          <a:p>
            <a:pPr indent="0" marL="0">
              <a:buNone/>
            </a:pPr>
            <a:r>
              <a:rPr lang="en-US" sz="1800" b="1" dirty="0">
                <a:solidFill>
                  <a:srgbClr val="00A4BF"/>
                </a:solidFill>
                <a:latin typeface="Jura" pitchFamily="34" charset="0"/>
                <a:ea typeface="Jura" pitchFamily="34" charset="-122"/>
                <a:cs typeface="Jura" pitchFamily="34" charset="-120"/>
              </a:rPr>
              <a:t>VSOM — The Strategic Spine Everything Hangs From</a:t>
            </a:r>
            <a:endParaRPr lang="en-US" sz="1800" dirty="0"/>
          </a:p>
        </p:txBody>
      </p:sp>
      <p:sp>
        <p:nvSpPr>
          <p:cNvPr id="4" name="Text 2"/>
          <p:cNvSpPr/>
          <p:nvPr/>
        </p:nvSpPr>
        <p:spPr>
          <a:xfrm>
            <a:off x="457200" y="914400"/>
            <a:ext cx="7772400" cy="3840480"/>
          </a:xfrm>
          <a:prstGeom prst="rect">
            <a:avLst/>
          </a:prstGeom>
          <a:noFill/>
          <a:ln/>
        </p:spPr>
        <p:txBody>
          <a:bodyPr wrap="square" rtlCol="0" anchor="t"/>
          <a:lstStyle/>
          <a:p>
            <a:pPr indent="0" marL="0">
              <a:lnSpc>
                <a:spcPct val="115000"/>
              </a:lnSpc>
              <a:buNone/>
            </a:pPr>
            <a:r>
              <a:rPr lang="en-US" sz="1300" b="1" dirty="0">
                <a:solidFill>
                  <a:srgbClr val="CEC528"/>
                </a:solidFill>
                <a:latin typeface="Jura" pitchFamily="34" charset="0"/>
                <a:ea typeface="Jura" pitchFamily="34" charset="-122"/>
                <a:cs typeface="Jura" pitchFamily="34" charset="-120"/>
              </a:rPr>
              <a:t>Vision → Strategy → Objectives → Metrics</a:t>
            </a:r>
            <a:endParaRPr lang="en-US" sz="1300" dirty="0"/>
          </a:p>
          <a:p>
            <a:pPr marL="342900" indent="-342900">
              <a:lnSpc>
                <a:spcPct val="115000"/>
              </a:lnSpc>
              <a:buSzPct val="100000"/>
              <a:buChar char="•"/>
            </a:pPr>
            <a:r>
              <a:rPr lang="en-US" sz="1100" dirty="0">
                <a:solidFill>
                  <a:srgbClr val="E9F3F3"/>
                </a:solidFill>
                <a:latin typeface="Jura" pitchFamily="34" charset="0"/>
                <a:ea typeface="Jura" pitchFamily="34" charset="-122"/>
                <a:cs typeface="Jura" pitchFamily="34" charset="-120"/>
              </a:rPr>
              <a:t>VSOM-ONT is not just another strategy framework — it is the structural spine of the entire VE chain. Every downstream ontology imports from VSOM. When a VP-ONT value proposition references a strategic pillar, it does so through a typed VSOM relationship. When a KPI maps to a BSC perspective, the objective it measures is a VSOM entity.</a:t>
            </a:r>
            <a:endParaRPr lang="en-US" sz="1300" dirty="0"/>
          </a:p>
          <a:p>
            <a:pPr marL="342900" indent="-342900">
              <a:lnSpc>
                <a:spcPct val="115000"/>
              </a:lnSpc>
              <a:buSzPct val="100000"/>
              <a:buChar char="•"/>
            </a:pPr>
            <a:endParaRPr lang="en-US" sz="1300" dirty="0"/>
          </a:p>
          <a:p>
            <a:pPr indent="0" marL="0">
              <a:lnSpc>
                <a:spcPct val="115000"/>
              </a:lnSpc>
              <a:buNone/>
            </a:pPr>
            <a:r>
              <a:rPr lang="en-US" sz="1300" b="1" dirty="0">
                <a:solidFill>
                  <a:srgbClr val="CEC528"/>
                </a:solidFill>
                <a:latin typeface="Jura" pitchFamily="34" charset="0"/>
                <a:ea typeface="Jura" pitchFamily="34" charset="-122"/>
                <a:cs typeface="Jura" pitchFamily="34" charset="-120"/>
              </a:rPr>
              <a:t>VSOM-SA: The Strategy Analysis Sub-Series</a:t>
            </a:r>
            <a:endParaRPr lang="en-US" sz="1300" dirty="0"/>
          </a:p>
          <a:p>
            <a:pPr marL="342900" indent="-342900">
              <a:lnSpc>
                <a:spcPct val="115000"/>
              </a:lnSpc>
              <a:buSzPct val="100000"/>
              <a:buChar char="•"/>
            </a:pPr>
            <a:r>
              <a:rPr lang="en-US" sz="1100" dirty="0">
                <a:solidFill>
                  <a:srgbClr val="E9F3F3"/>
                </a:solidFill>
                <a:latin typeface="Jura" pitchFamily="34" charset="0"/>
                <a:ea typeface="Jura" pitchFamily="34" charset="-122"/>
                <a:cs typeface="Jura" pitchFamily="34" charset="-120"/>
              </a:rPr>
              <a:t>Five additional ontologies extend VSOM into full strategic analysis: MACRO-ONT (PESTEL, scenario planning), INDUSTRY-ONT (Porter's Five Forces, SWOT/TOWS), BSC-ONT (Balanced Scorecard strategy maps), REASON-ONT (MECE, hypothesis-driven logic), PORTFOLIO-ONT (BCG, three horizons). Together they form a five-layer concentric model from macro environment scanning down to portfolio execution — all feeding the VSOM spine.</a:t>
            </a:r>
            <a:endParaRPr lang="en-US" sz="1300" dirty="0"/>
          </a:p>
          <a:p>
            <a:pPr marL="342900" indent="-342900">
              <a:lnSpc>
                <a:spcPct val="115000"/>
              </a:lnSpc>
              <a:buSzPct val="100000"/>
              <a:buChar char="•"/>
            </a:pPr>
            <a:endParaRPr lang="en-US" sz="1300" dirty="0"/>
          </a:p>
          <a:p>
            <a:pPr indent="0" marL="0">
              <a:lnSpc>
                <a:spcPct val="115000"/>
              </a:lnSpc>
              <a:buNone/>
            </a:pPr>
            <a:r>
              <a:rPr lang="en-US" sz="1300" b="1" dirty="0">
                <a:solidFill>
                  <a:srgbClr val="CEC528"/>
                </a:solidFill>
                <a:latin typeface="Jura" pitchFamily="34" charset="0"/>
                <a:ea typeface="Jura" pitchFamily="34" charset="-122"/>
                <a:cs typeface="Jura" pitchFamily="34" charset="-120"/>
              </a:rPr>
              <a:t>Why This Matters for Execution</a:t>
            </a:r>
            <a:endParaRPr lang="en-US" sz="1300" dirty="0"/>
          </a:p>
          <a:p>
            <a:pPr marL="342900" indent="-342900">
              <a:lnSpc>
                <a:spcPct val="115000"/>
              </a:lnSpc>
              <a:buSzPct val="100000"/>
              <a:buChar char="•"/>
            </a:pPr>
            <a:r>
              <a:rPr lang="en-US" sz="1100" dirty="0">
                <a:solidFill>
                  <a:srgbClr val="E9F3F3"/>
                </a:solidFill>
                <a:latin typeface="Jura" pitchFamily="34" charset="0"/>
                <a:ea typeface="Jura" pitchFamily="34" charset="-122"/>
                <a:cs typeface="Jura" pitchFamily="34" charset="-120"/>
              </a:rPr>
              <a:t>By the time a product team receives a brief, every strategic assumption has been stress-tested through scenario analysis, competitive positioning, balanced scorecard alignment, and logical reasoning. The brief is not an opinion — it is a conclusion supported by structured evidence in a traversable graph.</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03D48"/>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005B6B"/>
          </a:solidFill>
          <a:ln/>
        </p:spPr>
      </p:sp>
      <p:sp>
        <p:nvSpPr>
          <p:cNvPr id="3" name="Text 1"/>
          <p:cNvSpPr/>
          <p:nvPr/>
        </p:nvSpPr>
        <p:spPr>
          <a:xfrm>
            <a:off x="457200" y="91440"/>
            <a:ext cx="8229600" cy="548640"/>
          </a:xfrm>
          <a:prstGeom prst="rect">
            <a:avLst/>
          </a:prstGeom>
          <a:noFill/>
          <a:ln/>
        </p:spPr>
        <p:txBody>
          <a:bodyPr wrap="square" rtlCol="0" anchor="ctr"/>
          <a:lstStyle/>
          <a:p>
            <a:pPr indent="0" marL="0">
              <a:buNone/>
            </a:pPr>
            <a:r>
              <a:rPr lang="en-US" sz="1800" b="1" dirty="0">
                <a:solidFill>
                  <a:srgbClr val="00A4BF"/>
                </a:solidFill>
                <a:latin typeface="Jura" pitchFamily="34" charset="0"/>
                <a:ea typeface="Jura" pitchFamily="34" charset="-122"/>
                <a:cs typeface="Jura" pitchFamily="34" charset="-120"/>
              </a:rPr>
              <a:t>VP → Kano → PMF — The Validation Gauntlet</a:t>
            </a:r>
            <a:endParaRPr lang="en-US" sz="1800" dirty="0"/>
          </a:p>
        </p:txBody>
      </p:sp>
      <p:sp>
        <p:nvSpPr>
          <p:cNvPr id="4" name="Text 2"/>
          <p:cNvSpPr/>
          <p:nvPr/>
        </p:nvSpPr>
        <p:spPr>
          <a:xfrm>
            <a:off x="457200" y="914400"/>
            <a:ext cx="7772400" cy="3840480"/>
          </a:xfrm>
          <a:prstGeom prst="rect">
            <a:avLst/>
          </a:prstGeom>
          <a:noFill/>
          <a:ln/>
        </p:spPr>
        <p:txBody>
          <a:bodyPr wrap="square" rtlCol="0" anchor="t"/>
          <a:lstStyle/>
          <a:p>
            <a:pPr indent="0" marL="0">
              <a:lnSpc>
                <a:spcPct val="115000"/>
              </a:lnSpc>
              <a:buNone/>
            </a:pPr>
            <a:r>
              <a:rPr lang="en-US" sz="1300" b="1" dirty="0">
                <a:solidFill>
                  <a:srgbClr val="CEC528"/>
                </a:solidFill>
                <a:latin typeface="Jura" pitchFamily="34" charset="0"/>
                <a:ea typeface="Jura" pitchFamily="34" charset="-122"/>
                <a:cs typeface="Jura" pitchFamily="34" charset="-120"/>
              </a:rPr>
              <a:t>VP-ONT: Who Are We Serving and What Do They Need?</a:t>
            </a:r>
            <a:endParaRPr lang="en-US" sz="1300" dirty="0"/>
          </a:p>
          <a:p>
            <a:pPr marL="342900" indent="-342900">
              <a:lnSpc>
                <a:spcPct val="115000"/>
              </a:lnSpc>
              <a:buSzPct val="100000"/>
              <a:buChar char="•"/>
            </a:pPr>
            <a:r>
              <a:rPr lang="en-US" sz="1100" dirty="0">
                <a:solidFill>
                  <a:srgbClr val="E9F3F3"/>
                </a:solidFill>
                <a:latin typeface="Jura" pitchFamily="34" charset="0"/>
                <a:ea typeface="Jura" pitchFamily="34" charset="-122"/>
                <a:cs typeface="Jura" pitchFamily="34" charset="-120"/>
              </a:rPr>
              <a:t>Value Proposition Ontology captures Ideal Customer Profiles, their pain points (quantified), the solutions we propose, and the benefits we claim. Every VP entity traces back to VSOM objectives. The VP-RRR alignment convention ensures problems map to risks, solutions to requirements, and benefits to measurable results.</a:t>
            </a:r>
            <a:endParaRPr lang="en-US" sz="1300" dirty="0"/>
          </a:p>
          <a:p>
            <a:pPr marL="342900" indent="-342900">
              <a:lnSpc>
                <a:spcPct val="115000"/>
              </a:lnSpc>
              <a:buSzPct val="100000"/>
              <a:buChar char="•"/>
            </a:pPr>
            <a:endParaRPr lang="en-US" sz="1300" dirty="0"/>
          </a:p>
          <a:p>
            <a:pPr indent="0" marL="0">
              <a:lnSpc>
                <a:spcPct val="115000"/>
              </a:lnSpc>
              <a:buNone/>
            </a:pPr>
            <a:r>
              <a:rPr lang="en-US" sz="1300" b="1" dirty="0">
                <a:solidFill>
                  <a:srgbClr val="CEC528"/>
                </a:solidFill>
                <a:latin typeface="Jura" pitchFamily="34" charset="0"/>
                <a:ea typeface="Jura" pitchFamily="34" charset="-122"/>
                <a:cs typeface="Jura" pitchFamily="34" charset="-120"/>
              </a:rPr>
              <a:t>Kano Analysis: Not All Features Are Equal</a:t>
            </a:r>
            <a:endParaRPr lang="en-US" sz="1300" dirty="0"/>
          </a:p>
          <a:p>
            <a:pPr marL="342900" indent="-342900">
              <a:lnSpc>
                <a:spcPct val="115000"/>
              </a:lnSpc>
              <a:buSzPct val="100000"/>
              <a:buChar char="•"/>
            </a:pPr>
            <a:r>
              <a:rPr lang="en-US" sz="1100" dirty="0">
                <a:solidFill>
                  <a:srgbClr val="E9F3F3"/>
                </a:solidFill>
                <a:latin typeface="Jura" pitchFamily="34" charset="0"/>
                <a:ea typeface="Jura" pitchFamily="34" charset="-122"/>
                <a:cs typeface="Jura" pitchFamily="34" charset="-120"/>
              </a:rPr>
              <a:t>Kano classification sorts features into Must-Be (expected — absence causes dissatisfaction), Performance (more is better — linear satisfaction), and Excitement (unexpected delight — differentiation). This prevents the classic trap of investing in excitement features before must-be features are solid.</a:t>
            </a:r>
            <a:endParaRPr lang="en-US" sz="1300" dirty="0"/>
          </a:p>
          <a:p>
            <a:pPr marL="342900" indent="-342900">
              <a:lnSpc>
                <a:spcPct val="115000"/>
              </a:lnSpc>
              <a:buSzPct val="100000"/>
              <a:buChar char="•"/>
            </a:pPr>
            <a:endParaRPr lang="en-US" sz="1300" dirty="0"/>
          </a:p>
          <a:p>
            <a:pPr indent="0" marL="0">
              <a:lnSpc>
                <a:spcPct val="115000"/>
              </a:lnSpc>
              <a:buNone/>
            </a:pPr>
            <a:r>
              <a:rPr lang="en-US" sz="1300" b="1" dirty="0">
                <a:solidFill>
                  <a:srgbClr val="CEC528"/>
                </a:solidFill>
                <a:latin typeface="Jura" pitchFamily="34" charset="0"/>
                <a:ea typeface="Jura" pitchFamily="34" charset="-122"/>
                <a:cs typeface="Jura" pitchFamily="34" charset="-120"/>
              </a:rPr>
              <a:t>PMF-ONT: The Reality Check Before Build</a:t>
            </a:r>
            <a:endParaRPr lang="en-US" sz="1300" dirty="0"/>
          </a:p>
          <a:p>
            <a:pPr marL="342900" indent="-342900">
              <a:lnSpc>
                <a:spcPct val="115000"/>
              </a:lnSpc>
              <a:buSzPct val="100000"/>
              <a:buChar char="•"/>
            </a:pPr>
            <a:r>
              <a:rPr lang="en-US" sz="1100" dirty="0">
                <a:solidFill>
                  <a:srgbClr val="E9F3F3"/>
                </a:solidFill>
                <a:latin typeface="Jura" pitchFamily="34" charset="0"/>
                <a:ea typeface="Jura" pitchFamily="34" charset="-122"/>
                <a:cs typeface="Jura" pitchFamily="34" charset="-120"/>
              </a:rPr>
              <a:t>Product-Market Fit is not a feeling — it is a structured assessment. Sean Ellis test ("how would you feel if you could no longer use this?"), willingness-to-pay analysis, competitive positioning, and launch readiness scoring. PMF-ONT imports from VP-ONT and OKR-ONT to ground every assessment in validated data. Only propositions that survive this gauntlet proceed to the PE chain.</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05B6B"/>
        </a:solidFill>
      </p:bgPr>
    </p:bg>
    <p:spTree>
      <p:nvGrpSpPr>
        <p:cNvPr id="1" name=""/>
        <p:cNvGrpSpPr/>
        <p:nvPr/>
      </p:nvGrpSpPr>
      <p:grpSpPr>
        <a:xfrm>
          <a:off x="0" y="0"/>
          <a:ext cx="0" cy="0"/>
          <a:chOff x="0" y="0"/>
          <a:chExt cx="0" cy="0"/>
        </a:xfrm>
      </p:grpSpPr>
      <p:sp>
        <p:nvSpPr>
          <p:cNvPr id="2" name="Text 0"/>
          <p:cNvSpPr/>
          <p:nvPr/>
        </p:nvSpPr>
        <p:spPr>
          <a:xfrm>
            <a:off x="731520" y="1645920"/>
            <a:ext cx="1371600" cy="1371600"/>
          </a:xfrm>
          <a:prstGeom prst="rect">
            <a:avLst/>
          </a:prstGeom>
          <a:noFill/>
          <a:ln/>
        </p:spPr>
        <p:txBody>
          <a:bodyPr wrap="square" rtlCol="0" anchor="ctr"/>
          <a:lstStyle/>
          <a:p>
            <a:pPr indent="0" marL="0">
              <a:buNone/>
            </a:pPr>
            <a:r>
              <a:rPr lang="en-US" sz="4800" b="1" dirty="0">
                <a:solidFill>
                  <a:srgbClr val="00A4BF"/>
                </a:solidFill>
                <a:latin typeface="Jura" pitchFamily="34" charset="0"/>
                <a:ea typeface="Jura" pitchFamily="34" charset="-122"/>
                <a:cs typeface="Jura" pitchFamily="34" charset="-120"/>
              </a:rPr>
              <a:t>04</a:t>
            </a:r>
            <a:endParaRPr lang="en-US" sz="4800" dirty="0"/>
          </a:p>
        </p:txBody>
      </p:sp>
      <p:sp>
        <p:nvSpPr>
          <p:cNvPr id="3" name="Text 1"/>
          <p:cNvSpPr/>
          <p:nvPr/>
        </p:nvSpPr>
        <p:spPr>
          <a:xfrm>
            <a:off x="2286000" y="1645920"/>
            <a:ext cx="5943600" cy="731520"/>
          </a:xfrm>
          <a:prstGeom prst="rect">
            <a:avLst/>
          </a:prstGeom>
          <a:noFill/>
          <a:ln/>
        </p:spPr>
        <p:txBody>
          <a:bodyPr wrap="square" rtlCol="0" anchor="ctr"/>
          <a:lstStyle/>
          <a:p>
            <a:pPr indent="0" marL="0">
              <a:buNone/>
            </a:pPr>
            <a:r>
              <a:rPr lang="en-US" sz="2800" b="1" dirty="0">
                <a:solidFill>
                  <a:srgbClr val="E9F3F3"/>
                </a:solidFill>
                <a:latin typeface="Jura" pitchFamily="34" charset="0"/>
                <a:ea typeface="Jura" pitchFamily="34" charset="-122"/>
                <a:cs typeface="Jura" pitchFamily="34" charset="-120"/>
              </a:rPr>
              <a:t>The Bridge to Execution</a:t>
            </a:r>
            <a:endParaRPr lang="en-US" sz="2800" dirty="0"/>
          </a:p>
        </p:txBody>
      </p:sp>
      <p:sp>
        <p:nvSpPr>
          <p:cNvPr id="4" name="Text 2"/>
          <p:cNvSpPr/>
          <p:nvPr/>
        </p:nvSpPr>
        <p:spPr>
          <a:xfrm>
            <a:off x="2286000" y="2468880"/>
            <a:ext cx="5943600" cy="548640"/>
          </a:xfrm>
          <a:prstGeom prst="rect">
            <a:avLst/>
          </a:prstGeom>
          <a:noFill/>
          <a:ln/>
        </p:spPr>
        <p:txBody>
          <a:bodyPr wrap="square" rtlCol="0" anchor="ctr"/>
          <a:lstStyle/>
          <a:p>
            <a:pPr indent="0" marL="0">
              <a:buNone/>
            </a:pPr>
            <a:r>
              <a:rPr lang="en-US" sz="1400" dirty="0">
                <a:solidFill>
                  <a:srgbClr val="CEC528"/>
                </a:solidFill>
                <a:latin typeface="Jura" pitchFamily="34" charset="0"/>
                <a:ea typeface="Jura" pitchFamily="34" charset="-122"/>
                <a:cs typeface="Jura" pitchFamily="34" charset="-120"/>
              </a:rPr>
              <a:t>Where Value Engineering hands off to Process Engineering</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03D48"/>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005B6B"/>
          </a:solidFill>
          <a:ln/>
        </p:spPr>
      </p:sp>
      <p:sp>
        <p:nvSpPr>
          <p:cNvPr id="3" name="Text 1"/>
          <p:cNvSpPr/>
          <p:nvPr/>
        </p:nvSpPr>
        <p:spPr>
          <a:xfrm>
            <a:off x="457200" y="91440"/>
            <a:ext cx="8229600" cy="548640"/>
          </a:xfrm>
          <a:prstGeom prst="rect">
            <a:avLst/>
          </a:prstGeom>
          <a:noFill/>
          <a:ln/>
        </p:spPr>
        <p:txBody>
          <a:bodyPr wrap="square" rtlCol="0" anchor="ctr"/>
          <a:lstStyle/>
          <a:p>
            <a:pPr indent="0" marL="0">
              <a:buNone/>
            </a:pPr>
            <a:r>
              <a:rPr lang="en-US" sz="1800" b="1" dirty="0">
                <a:solidFill>
                  <a:srgbClr val="00A4BF"/>
                </a:solidFill>
                <a:latin typeface="Jura" pitchFamily="34" charset="0"/>
                <a:ea typeface="Jura" pitchFamily="34" charset="-122"/>
                <a:cs typeface="Jura" pitchFamily="34" charset="-120"/>
              </a:rPr>
              <a:t>The VE Chain Produces What the PE Chain Consumes</a:t>
            </a:r>
            <a:endParaRPr lang="en-US" sz="1800" dirty="0"/>
          </a:p>
        </p:txBody>
      </p:sp>
      <p:sp>
        <p:nvSpPr>
          <p:cNvPr id="4" name="Text 2"/>
          <p:cNvSpPr/>
          <p:nvPr/>
        </p:nvSpPr>
        <p:spPr>
          <a:xfrm>
            <a:off x="457200" y="914400"/>
            <a:ext cx="7772400" cy="3840480"/>
          </a:xfrm>
          <a:prstGeom prst="rect">
            <a:avLst/>
          </a:prstGeom>
          <a:noFill/>
          <a:ln/>
        </p:spPr>
        <p:txBody>
          <a:bodyPr wrap="square" rtlCol="0" anchor="t"/>
          <a:lstStyle/>
          <a:p>
            <a:pPr indent="0" marL="0">
              <a:lnSpc>
                <a:spcPct val="115000"/>
              </a:lnSpc>
              <a:buNone/>
            </a:pPr>
            <a:r>
              <a:rPr lang="en-US" sz="1300" b="1" dirty="0">
                <a:solidFill>
                  <a:srgbClr val="CEC528"/>
                </a:solidFill>
                <a:latin typeface="Jura" pitchFamily="34" charset="0"/>
                <a:ea typeface="Jura" pitchFamily="34" charset="-122"/>
                <a:cs typeface="Jura" pitchFamily="34" charset="-120"/>
              </a:rPr>
              <a:t>The Handoff Artefact: The Validated Product Brief</a:t>
            </a:r>
            <a:endParaRPr lang="en-US" sz="1300" dirty="0"/>
          </a:p>
          <a:p>
            <a:pPr marL="342900" indent="-342900">
              <a:lnSpc>
                <a:spcPct val="115000"/>
              </a:lnSpc>
              <a:buSzPct val="100000"/>
              <a:buChar char="•"/>
            </a:pPr>
            <a:r>
              <a:rPr lang="en-US" sz="1100" dirty="0">
                <a:solidFill>
                  <a:srgbClr val="E9F3F3"/>
                </a:solidFill>
                <a:latin typeface="Jura" pitchFamily="34" charset="0"/>
                <a:ea typeface="Jura" pitchFamily="34" charset="-122"/>
                <a:cs typeface="Jura" pitchFamily="34" charset="-120"/>
              </a:rPr>
              <a:t>The output of the VE skill chain is not a requirements document — it is a validated, graph-connected product brief. It contains: a vision traced to strategy (VSOM), measurable success criteria (OKR/KPI), validated customer needs (VP), prioritised features (Kano), and confirmed market fit (PMF). This is what the Product Requirements Document is built from.</a:t>
            </a:r>
            <a:endParaRPr lang="en-US" sz="1300" dirty="0"/>
          </a:p>
          <a:p>
            <a:pPr marL="342900" indent="-342900">
              <a:lnSpc>
                <a:spcPct val="115000"/>
              </a:lnSpc>
              <a:buSzPct val="100000"/>
              <a:buChar char="•"/>
            </a:pPr>
            <a:endParaRPr lang="en-US" sz="1300" dirty="0"/>
          </a:p>
          <a:p>
            <a:pPr indent="0" marL="0">
              <a:lnSpc>
                <a:spcPct val="115000"/>
              </a:lnSpc>
              <a:buNone/>
            </a:pPr>
            <a:r>
              <a:rPr lang="en-US" sz="1300" b="1" dirty="0">
                <a:solidFill>
                  <a:srgbClr val="CEC528"/>
                </a:solidFill>
                <a:latin typeface="Jura" pitchFamily="34" charset="0"/>
                <a:ea typeface="Jura" pitchFamily="34" charset="-122"/>
                <a:cs typeface="Jura" pitchFamily="34" charset="-120"/>
              </a:rPr>
              <a:t>PE-Series: How to Build What VE Validated</a:t>
            </a:r>
            <a:endParaRPr lang="en-US" sz="1300" dirty="0"/>
          </a:p>
          <a:p>
            <a:pPr marL="342900" indent="-342900">
              <a:lnSpc>
                <a:spcPct val="115000"/>
              </a:lnSpc>
              <a:buSzPct val="100000"/>
              <a:buChar char="•"/>
            </a:pPr>
            <a:r>
              <a:rPr lang="en-US" sz="1100" dirty="0">
                <a:solidFill>
                  <a:srgbClr val="E9F3F3"/>
                </a:solidFill>
                <a:latin typeface="Jura" pitchFamily="34" charset="0"/>
                <a:ea typeface="Jura" pitchFamily="34" charset="-122"/>
                <a:cs typeface="Jura" pitchFamily="34" charset="-120"/>
              </a:rPr>
              <a:t>The Process Engineering series — PE-ONT, PPM-ONT, EFS-ONT, LSC-ONT, OFM-ONT — takes the validated brief and structures the execution. EFS-ONT (Epic-Feature-Story) decomposes VP solutions into buildable work items. PPM-ONT manages the programme portfolio. PE-ONT governs the engineering processes. LSC-ONT maps supply chains. OFM-ONT models operational fulfilment.</a:t>
            </a:r>
            <a:endParaRPr lang="en-US" sz="1300" dirty="0"/>
          </a:p>
          <a:p>
            <a:pPr marL="342900" indent="-342900">
              <a:lnSpc>
                <a:spcPct val="115000"/>
              </a:lnSpc>
              <a:buSzPct val="100000"/>
              <a:buChar char="•"/>
            </a:pPr>
            <a:endParaRPr lang="en-US" sz="1300" dirty="0"/>
          </a:p>
          <a:p>
            <a:pPr indent="0" marL="0">
              <a:lnSpc>
                <a:spcPct val="115000"/>
              </a:lnSpc>
              <a:buNone/>
            </a:pPr>
            <a:r>
              <a:rPr lang="en-US" sz="1300" b="1" dirty="0">
                <a:solidFill>
                  <a:srgbClr val="CEC528"/>
                </a:solidFill>
                <a:latin typeface="Jura" pitchFamily="34" charset="0"/>
                <a:ea typeface="Jura" pitchFamily="34" charset="-122"/>
                <a:cs typeface="Jura" pitchFamily="34" charset="-120"/>
              </a:rPr>
              <a:t>The Critical Insight</a:t>
            </a:r>
            <a:endParaRPr lang="en-US" sz="1300" dirty="0"/>
          </a:p>
          <a:p>
            <a:pPr marL="342900" indent="-342900">
              <a:lnSpc>
                <a:spcPct val="115000"/>
              </a:lnSpc>
              <a:buSzPct val="100000"/>
              <a:buChar char="•"/>
            </a:pPr>
            <a:r>
              <a:rPr lang="en-US" sz="1100" dirty="0">
                <a:solidFill>
                  <a:srgbClr val="E9F3F3"/>
                </a:solidFill>
                <a:latin typeface="Jura" pitchFamily="34" charset="0"/>
                <a:ea typeface="Jura" pitchFamily="34" charset="-122"/>
                <a:cs typeface="Jura" pitchFamily="34" charset="-120"/>
              </a:rPr>
              <a:t>The PRD is not written from scratch — it is composed from validated VE artefacts. Every epic traces to a VP solution. Every feature traces to a Kano-prioritised capability. Every acceptance criterion traces to a KPI target. The PE chain does not guess what to build — it executes what has been proven to matter.</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03D48"/>
        </a:solidFill>
      </p:bgPr>
    </p:bg>
    <p:spTree>
      <p:nvGrpSpPr>
        <p:cNvPr id="1" name=""/>
        <p:cNvGrpSpPr/>
        <p:nvPr/>
      </p:nvGrpSpPr>
      <p:grpSpPr>
        <a:xfrm>
          <a:off x="0" y="0"/>
          <a:ext cx="0" cy="0"/>
          <a:chOff x="0" y="0"/>
          <a:chExt cx="0" cy="0"/>
        </a:xfrm>
      </p:grpSpPr>
      <p:sp>
        <p:nvSpPr>
          <p:cNvPr id="2" name="Text 0"/>
          <p:cNvSpPr/>
          <p:nvPr/>
        </p:nvSpPr>
        <p:spPr>
          <a:xfrm>
            <a:off x="457200" y="182880"/>
            <a:ext cx="8229600" cy="457200"/>
          </a:xfrm>
          <a:prstGeom prst="rect">
            <a:avLst/>
          </a:prstGeom>
          <a:noFill/>
          <a:ln/>
        </p:spPr>
        <p:txBody>
          <a:bodyPr wrap="square" rtlCol="0" anchor="ctr"/>
          <a:lstStyle/>
          <a:p>
            <a:pPr indent="0" marL="0">
              <a:buNone/>
            </a:pPr>
            <a:r>
              <a:rPr lang="en-US" sz="1600" b="1" dirty="0">
                <a:solidFill>
                  <a:srgbClr val="00A4BF"/>
                </a:solidFill>
                <a:latin typeface="Jura" pitchFamily="34" charset="0"/>
                <a:ea typeface="Jura" pitchFamily="34" charset="-122"/>
                <a:cs typeface="Jura" pitchFamily="34" charset="-120"/>
              </a:rPr>
              <a:t>VE → PE Mapping — What Flows Across the Bridge</a:t>
            </a:r>
            <a:endParaRPr lang="en-US" sz="16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365760" y="822960"/>
          <a:ext cx="8412480" cy="914400"/>
        </p:xfrm>
        <a:graphic>
          <a:graphicData uri="http://schemas.openxmlformats.org/drawingml/2006/table">
            <a:tbl>
              <a:tblPr/>
              <a:tblGrid>
                <a:gridCol w="2286000"/>
                <a:gridCol w="365760"/>
                <a:gridCol w="2286000"/>
                <a:gridCol w="2926080"/>
              </a:tblGrid>
              <a:tr h="274320">
                <a:tc>
                  <a:txBody>
                    <a:bodyPr/>
                    <a:lstStyle/>
                    <a:p>
                      <a:pPr indent="0" marL="0">
                        <a:buNone/>
                      </a:pPr>
                      <a:r>
                        <a:rPr lang="en-US" sz="1000" b="1" dirty="0">
                          <a:solidFill>
                            <a:srgbClr val="003D48"/>
                          </a:solidFill>
                          <a:latin typeface="Jura" pitchFamily="34" charset="0"/>
                          <a:ea typeface="Jura" pitchFamily="34" charset="-122"/>
                          <a:cs typeface="Jura" pitchFamily="34" charset="-120"/>
                        </a:rPr>
                        <a:t>VE Artefact</a:t>
                      </a:r>
                      <a:endParaRPr lang="en-US" sz="1000" dirty="0">
                        <a:latin typeface="Jura" charset="0"/>
                        <a:ea typeface="Jura" charset="0"/>
                        <a:cs typeface="Jura" charset="0"/>
                      </a:endParaRPr>
                    </a:p>
                  </a:txBody>
                  <a:tcPr marL="91440" marR="91440" marT="45720" marB="45720">
                    <a:lnL w="6350" cap="flat" cmpd="sng" algn="ctr">
                      <a:solidFill>
                        <a:srgbClr val="2A3A4A"/>
                      </a:solidFill>
                      <a:prstDash val="solid"/>
                      <a:round/>
                      <a:headEnd type="none" w="med" len="med"/>
                      <a:tailEnd type="none" w="med" len="med"/>
                    </a:lnL>
                    <a:lnR w="6350" cap="flat" cmpd="sng" algn="ctr">
                      <a:solidFill>
                        <a:srgbClr val="2A3A4A"/>
                      </a:solidFill>
                      <a:prstDash val="solid"/>
                      <a:round/>
                      <a:headEnd type="none" w="med" len="med"/>
                      <a:tailEnd type="none" w="med" len="med"/>
                    </a:lnR>
                    <a:lnT w="6350" cap="flat" cmpd="sng" algn="ctr">
                      <a:solidFill>
                        <a:srgbClr val="2A3A4A"/>
                      </a:solidFill>
                      <a:prstDash val="solid"/>
                      <a:round/>
                      <a:headEnd type="none" w="med" len="med"/>
                      <a:tailEnd type="none" w="med" len="med"/>
                    </a:lnT>
                    <a:lnB w="6350" cap="flat" cmpd="sng" algn="ctr">
                      <a:solidFill>
                        <a:srgbClr val="2A3A4A"/>
                      </a:solidFill>
                      <a:prstDash val="solid"/>
                      <a:round/>
                      <a:headEnd type="none" w="med" len="med"/>
                      <a:tailEnd type="none" w="med" len="med"/>
                    </a:lnB>
                    <a:solidFill>
                      <a:srgbClr val="00A4BF"/>
                    </a:solidFill>
                  </a:tcPr>
                </a:tc>
                <a:tc>
                  <a:txBody>
                    <a:bodyPr/>
                    <a:lstStyle/>
                    <a:p>
                      <a:pPr indent="0" marL="0">
                        <a:buNone/>
                      </a:pPr>
                      <a:r>
                        <a:rPr lang="en-US" sz="1000" b="1" dirty="0">
                          <a:solidFill>
                            <a:srgbClr val="003D48"/>
                          </a:solidFill>
                          <a:latin typeface="Jura" pitchFamily="34" charset="0"/>
                          <a:ea typeface="Jura" pitchFamily="34" charset="-122"/>
                          <a:cs typeface="Jura" pitchFamily="34" charset="-120"/>
                        </a:rPr>
                        <a:t>Becomes</a:t>
                      </a:r>
                      <a:endParaRPr lang="en-US" sz="1000" dirty="0">
                        <a:latin typeface="Jura" charset="0"/>
                        <a:ea typeface="Jura" charset="0"/>
                        <a:cs typeface="Jura" charset="0"/>
                      </a:endParaRPr>
                    </a:p>
                  </a:txBody>
                  <a:tcPr marL="91440" marR="91440" marT="45720" marB="45720">
                    <a:lnL w="6350" cap="flat" cmpd="sng" algn="ctr">
                      <a:solidFill>
                        <a:srgbClr val="2A3A4A"/>
                      </a:solidFill>
                      <a:prstDash val="solid"/>
                      <a:round/>
                      <a:headEnd type="none" w="med" len="med"/>
                      <a:tailEnd type="none" w="med" len="med"/>
                    </a:lnL>
                    <a:lnR w="6350" cap="flat" cmpd="sng" algn="ctr">
                      <a:solidFill>
                        <a:srgbClr val="2A3A4A"/>
                      </a:solidFill>
                      <a:prstDash val="solid"/>
                      <a:round/>
                      <a:headEnd type="none" w="med" len="med"/>
                      <a:tailEnd type="none" w="med" len="med"/>
                    </a:lnR>
                    <a:lnT w="6350" cap="flat" cmpd="sng" algn="ctr">
                      <a:solidFill>
                        <a:srgbClr val="2A3A4A"/>
                      </a:solidFill>
                      <a:prstDash val="solid"/>
                      <a:round/>
                      <a:headEnd type="none" w="med" len="med"/>
                      <a:tailEnd type="none" w="med" len="med"/>
                    </a:lnT>
                    <a:lnB w="6350" cap="flat" cmpd="sng" algn="ctr">
                      <a:solidFill>
                        <a:srgbClr val="2A3A4A"/>
                      </a:solidFill>
                      <a:prstDash val="solid"/>
                      <a:round/>
                      <a:headEnd type="none" w="med" len="med"/>
                      <a:tailEnd type="none" w="med" len="med"/>
                    </a:lnB>
                    <a:solidFill>
                      <a:srgbClr val="00A4BF"/>
                    </a:solidFill>
                  </a:tcPr>
                </a:tc>
                <a:tc>
                  <a:txBody>
                    <a:bodyPr/>
                    <a:lstStyle/>
                    <a:p>
                      <a:pPr indent="0" marL="0">
                        <a:buNone/>
                      </a:pPr>
                      <a:r>
                        <a:rPr lang="en-US" sz="1000" b="1" dirty="0">
                          <a:solidFill>
                            <a:srgbClr val="003D48"/>
                          </a:solidFill>
                          <a:latin typeface="Jura" pitchFamily="34" charset="0"/>
                          <a:ea typeface="Jura" pitchFamily="34" charset="-122"/>
                          <a:cs typeface="Jura" pitchFamily="34" charset="-120"/>
                        </a:rPr>
                        <a:t>PE Artefact</a:t>
                      </a:r>
                      <a:endParaRPr lang="en-US" sz="1000" dirty="0">
                        <a:latin typeface="Jura" charset="0"/>
                        <a:ea typeface="Jura" charset="0"/>
                        <a:cs typeface="Jura" charset="0"/>
                      </a:endParaRPr>
                    </a:p>
                  </a:txBody>
                  <a:tcPr marL="91440" marR="91440" marT="45720" marB="45720">
                    <a:lnL w="6350" cap="flat" cmpd="sng" algn="ctr">
                      <a:solidFill>
                        <a:srgbClr val="2A3A4A"/>
                      </a:solidFill>
                      <a:prstDash val="solid"/>
                      <a:round/>
                      <a:headEnd type="none" w="med" len="med"/>
                      <a:tailEnd type="none" w="med" len="med"/>
                    </a:lnL>
                    <a:lnR w="6350" cap="flat" cmpd="sng" algn="ctr">
                      <a:solidFill>
                        <a:srgbClr val="2A3A4A"/>
                      </a:solidFill>
                      <a:prstDash val="solid"/>
                      <a:round/>
                      <a:headEnd type="none" w="med" len="med"/>
                      <a:tailEnd type="none" w="med" len="med"/>
                    </a:lnR>
                    <a:lnT w="6350" cap="flat" cmpd="sng" algn="ctr">
                      <a:solidFill>
                        <a:srgbClr val="2A3A4A"/>
                      </a:solidFill>
                      <a:prstDash val="solid"/>
                      <a:round/>
                      <a:headEnd type="none" w="med" len="med"/>
                      <a:tailEnd type="none" w="med" len="med"/>
                    </a:lnT>
                    <a:lnB w="6350" cap="flat" cmpd="sng" algn="ctr">
                      <a:solidFill>
                        <a:srgbClr val="2A3A4A"/>
                      </a:solidFill>
                      <a:prstDash val="solid"/>
                      <a:round/>
                      <a:headEnd type="none" w="med" len="med"/>
                      <a:tailEnd type="none" w="med" len="med"/>
                    </a:lnB>
                    <a:solidFill>
                      <a:srgbClr val="00A4BF"/>
                    </a:solidFill>
                  </a:tcPr>
                </a:tc>
                <a:tc>
                  <a:txBody>
                    <a:bodyPr/>
                    <a:lstStyle/>
                    <a:p>
                      <a:pPr indent="0" marL="0">
                        <a:buNone/>
                      </a:pPr>
                      <a:r>
                        <a:rPr lang="en-US" sz="1000" b="1" dirty="0">
                          <a:solidFill>
                            <a:srgbClr val="003D48"/>
                          </a:solidFill>
                          <a:latin typeface="Jura" pitchFamily="34" charset="0"/>
                          <a:ea typeface="Jura" pitchFamily="34" charset="-122"/>
                          <a:cs typeface="Jura" pitchFamily="34" charset="-120"/>
                        </a:rPr>
                        <a:t>Traceability</a:t>
                      </a:r>
                      <a:endParaRPr lang="en-US" sz="1000" dirty="0">
                        <a:latin typeface="Jura" charset="0"/>
                        <a:ea typeface="Jura" charset="0"/>
                        <a:cs typeface="Jura" charset="0"/>
                      </a:endParaRPr>
                    </a:p>
                  </a:txBody>
                  <a:tcPr marL="91440" marR="91440" marT="45720" marB="45720">
                    <a:lnL w="6350" cap="flat" cmpd="sng" algn="ctr">
                      <a:solidFill>
                        <a:srgbClr val="2A3A4A"/>
                      </a:solidFill>
                      <a:prstDash val="solid"/>
                      <a:round/>
                      <a:headEnd type="none" w="med" len="med"/>
                      <a:tailEnd type="none" w="med" len="med"/>
                    </a:lnL>
                    <a:lnR w="6350" cap="flat" cmpd="sng" algn="ctr">
                      <a:solidFill>
                        <a:srgbClr val="2A3A4A"/>
                      </a:solidFill>
                      <a:prstDash val="solid"/>
                      <a:round/>
                      <a:headEnd type="none" w="med" len="med"/>
                      <a:tailEnd type="none" w="med" len="med"/>
                    </a:lnR>
                    <a:lnT w="6350" cap="flat" cmpd="sng" algn="ctr">
                      <a:solidFill>
                        <a:srgbClr val="2A3A4A"/>
                      </a:solidFill>
                      <a:prstDash val="solid"/>
                      <a:round/>
                      <a:headEnd type="none" w="med" len="med"/>
                      <a:tailEnd type="none" w="med" len="med"/>
                    </a:lnT>
                    <a:lnB w="6350" cap="flat" cmpd="sng" algn="ctr">
                      <a:solidFill>
                        <a:srgbClr val="2A3A4A"/>
                      </a:solidFill>
                      <a:prstDash val="solid"/>
                      <a:round/>
                      <a:headEnd type="none" w="med" len="med"/>
                      <a:tailEnd type="none" w="med" len="med"/>
                    </a:lnB>
                    <a:solidFill>
                      <a:srgbClr val="00A4BF"/>
                    </a:solidFill>
                  </a:tcPr>
                </a:tc>
              </a:tr>
              <a:tr h="274320">
                <a:tc>
                  <a:txBody>
                    <a:bodyPr/>
                    <a:lstStyle/>
                    <a:p>
                      <a:pPr indent="0" marL="0">
                        <a:buNone/>
                      </a:pPr>
                      <a:r>
                        <a:rPr lang="en-US" sz="900" dirty="0">
                          <a:solidFill>
                            <a:srgbClr val="E9F3F3"/>
                          </a:solidFill>
                          <a:latin typeface="Jura" pitchFamily="34" charset="0"/>
                          <a:ea typeface="Jura" pitchFamily="34" charset="-122"/>
                          <a:cs typeface="Jura" pitchFamily="34" charset="-120"/>
                        </a:rPr>
                        <a:t>VSOM Strategy Pillar</a:t>
                      </a:r>
                      <a:endParaRPr lang="en-US" sz="900" dirty="0">
                        <a:latin typeface="Jura" charset="0"/>
                        <a:ea typeface="Jura" charset="0"/>
                        <a:cs typeface="Jura" charset="0"/>
                      </a:endParaRPr>
                    </a:p>
                  </a:txBody>
                  <a:tcPr marL="91440" marR="91440" marT="45720" marB="45720">
                    <a:lnL w="6350" cap="flat" cmpd="sng" algn="ctr">
                      <a:solidFill>
                        <a:srgbClr val="2A3A4A"/>
                      </a:solidFill>
                      <a:prstDash val="solid"/>
                      <a:round/>
                      <a:headEnd type="none" w="med" len="med"/>
                      <a:tailEnd type="none" w="med" len="med"/>
                    </a:lnL>
                    <a:lnR w="6350" cap="flat" cmpd="sng" algn="ctr">
                      <a:solidFill>
                        <a:srgbClr val="2A3A4A"/>
                      </a:solidFill>
                      <a:prstDash val="solid"/>
                      <a:round/>
                      <a:headEnd type="none" w="med" len="med"/>
                      <a:tailEnd type="none" w="med" len="med"/>
                    </a:lnR>
                    <a:lnT w="6350" cap="flat" cmpd="sng" algn="ctr">
                      <a:solidFill>
                        <a:srgbClr val="2A3A4A"/>
                      </a:solidFill>
                      <a:prstDash val="solid"/>
                      <a:round/>
                      <a:headEnd type="none" w="med" len="med"/>
                      <a:tailEnd type="none" w="med" len="med"/>
                    </a:lnT>
                    <a:lnB w="6350" cap="flat" cmpd="sng" algn="ctr">
                      <a:solidFill>
                        <a:srgbClr val="2A3A4A"/>
                      </a:solidFill>
                      <a:prstDash val="solid"/>
                      <a:round/>
                      <a:headEnd type="none" w="med" len="med"/>
                      <a:tailEnd type="none" w="med" len="med"/>
                    </a:lnB>
                    <a:solidFill>
                      <a:srgbClr val="005B6B"/>
                    </a:solidFill>
                  </a:tcPr>
                </a:tc>
                <a:tc>
                  <a:txBody>
                    <a:bodyPr/>
                    <a:lstStyle/>
                    <a:p>
                      <a:pPr indent="0" marL="0">
                        <a:buNone/>
                      </a:pPr>
                      <a:r>
                        <a:rPr lang="en-US" sz="900" dirty="0">
                          <a:solidFill>
                            <a:srgbClr val="E9F3F3"/>
                          </a:solidFill>
                          <a:latin typeface="Jura" pitchFamily="34" charset="0"/>
                          <a:ea typeface="Jura" pitchFamily="34" charset="-122"/>
                          <a:cs typeface="Jura" pitchFamily="34" charset="-120"/>
                        </a:rPr>
                        <a:t>→</a:t>
                      </a:r>
                      <a:endParaRPr lang="en-US" sz="900" dirty="0">
                        <a:latin typeface="Jura" charset="0"/>
                        <a:ea typeface="Jura" charset="0"/>
                        <a:cs typeface="Jura" charset="0"/>
                      </a:endParaRPr>
                    </a:p>
                  </a:txBody>
                  <a:tcPr marL="91440" marR="91440" marT="45720" marB="45720">
                    <a:lnL w="6350" cap="flat" cmpd="sng" algn="ctr">
                      <a:solidFill>
                        <a:srgbClr val="2A3A4A"/>
                      </a:solidFill>
                      <a:prstDash val="solid"/>
                      <a:round/>
                      <a:headEnd type="none" w="med" len="med"/>
                      <a:tailEnd type="none" w="med" len="med"/>
                    </a:lnL>
                    <a:lnR w="6350" cap="flat" cmpd="sng" algn="ctr">
                      <a:solidFill>
                        <a:srgbClr val="2A3A4A"/>
                      </a:solidFill>
                      <a:prstDash val="solid"/>
                      <a:round/>
                      <a:headEnd type="none" w="med" len="med"/>
                      <a:tailEnd type="none" w="med" len="med"/>
                    </a:lnR>
                    <a:lnT w="6350" cap="flat" cmpd="sng" algn="ctr">
                      <a:solidFill>
                        <a:srgbClr val="2A3A4A"/>
                      </a:solidFill>
                      <a:prstDash val="solid"/>
                      <a:round/>
                      <a:headEnd type="none" w="med" len="med"/>
                      <a:tailEnd type="none" w="med" len="med"/>
                    </a:lnT>
                    <a:lnB w="6350" cap="flat" cmpd="sng" algn="ctr">
                      <a:solidFill>
                        <a:srgbClr val="2A3A4A"/>
                      </a:solidFill>
                      <a:prstDash val="solid"/>
                      <a:round/>
                      <a:headEnd type="none" w="med" len="med"/>
                      <a:tailEnd type="none" w="med" len="med"/>
                    </a:lnB>
                    <a:solidFill>
                      <a:srgbClr val="005B6B"/>
                    </a:solidFill>
                  </a:tcPr>
                </a:tc>
                <a:tc>
                  <a:txBody>
                    <a:bodyPr/>
                    <a:lstStyle/>
                    <a:p>
                      <a:pPr indent="0" marL="0">
                        <a:buNone/>
                      </a:pPr>
                      <a:r>
                        <a:rPr lang="en-US" sz="900" dirty="0">
                          <a:solidFill>
                            <a:srgbClr val="E9F3F3"/>
                          </a:solidFill>
                          <a:latin typeface="Jura" pitchFamily="34" charset="0"/>
                          <a:ea typeface="Jura" pitchFamily="34" charset="-122"/>
                          <a:cs typeface="Jura" pitchFamily="34" charset="-120"/>
                        </a:rPr>
                        <a:t>Programme Theme</a:t>
                      </a:r>
                      <a:endParaRPr lang="en-US" sz="900" dirty="0">
                        <a:latin typeface="Jura" charset="0"/>
                        <a:ea typeface="Jura" charset="0"/>
                        <a:cs typeface="Jura" charset="0"/>
                      </a:endParaRPr>
                    </a:p>
                  </a:txBody>
                  <a:tcPr marL="91440" marR="91440" marT="45720" marB="45720">
                    <a:lnL w="6350" cap="flat" cmpd="sng" algn="ctr">
                      <a:solidFill>
                        <a:srgbClr val="2A3A4A"/>
                      </a:solidFill>
                      <a:prstDash val="solid"/>
                      <a:round/>
                      <a:headEnd type="none" w="med" len="med"/>
                      <a:tailEnd type="none" w="med" len="med"/>
                    </a:lnL>
                    <a:lnR w="6350" cap="flat" cmpd="sng" algn="ctr">
                      <a:solidFill>
                        <a:srgbClr val="2A3A4A"/>
                      </a:solidFill>
                      <a:prstDash val="solid"/>
                      <a:round/>
                      <a:headEnd type="none" w="med" len="med"/>
                      <a:tailEnd type="none" w="med" len="med"/>
                    </a:lnR>
                    <a:lnT w="6350" cap="flat" cmpd="sng" algn="ctr">
                      <a:solidFill>
                        <a:srgbClr val="2A3A4A"/>
                      </a:solidFill>
                      <a:prstDash val="solid"/>
                      <a:round/>
                      <a:headEnd type="none" w="med" len="med"/>
                      <a:tailEnd type="none" w="med" len="med"/>
                    </a:lnT>
                    <a:lnB w="6350" cap="flat" cmpd="sng" algn="ctr">
                      <a:solidFill>
                        <a:srgbClr val="2A3A4A"/>
                      </a:solidFill>
                      <a:prstDash val="solid"/>
                      <a:round/>
                      <a:headEnd type="none" w="med" len="med"/>
                      <a:tailEnd type="none" w="med" len="med"/>
                    </a:lnB>
                    <a:solidFill>
                      <a:srgbClr val="005B6B"/>
                    </a:solidFill>
                  </a:tcPr>
                </a:tc>
                <a:tc>
                  <a:txBody>
                    <a:bodyPr/>
                    <a:lstStyle/>
                    <a:p>
                      <a:pPr indent="0" marL="0">
                        <a:buNone/>
                      </a:pPr>
                      <a:r>
                        <a:rPr lang="en-US" sz="900" dirty="0">
                          <a:solidFill>
                            <a:srgbClr val="E9F3F3"/>
                          </a:solidFill>
                          <a:latin typeface="Jura" pitchFamily="34" charset="0"/>
                          <a:ea typeface="Jura" pitchFamily="34" charset="-122"/>
                          <a:cs typeface="Jura" pitchFamily="34" charset="-120"/>
                        </a:rPr>
                        <a:t>Strategic alignment maintained</a:t>
                      </a:r>
                      <a:endParaRPr lang="en-US" sz="900" dirty="0">
                        <a:latin typeface="Jura" charset="0"/>
                        <a:ea typeface="Jura" charset="0"/>
                        <a:cs typeface="Jura" charset="0"/>
                      </a:endParaRPr>
                    </a:p>
                  </a:txBody>
                  <a:tcPr marL="91440" marR="91440" marT="45720" marB="45720">
                    <a:lnL w="6350" cap="flat" cmpd="sng" algn="ctr">
                      <a:solidFill>
                        <a:srgbClr val="2A3A4A"/>
                      </a:solidFill>
                      <a:prstDash val="solid"/>
                      <a:round/>
                      <a:headEnd type="none" w="med" len="med"/>
                      <a:tailEnd type="none" w="med" len="med"/>
                    </a:lnL>
                    <a:lnR w="6350" cap="flat" cmpd="sng" algn="ctr">
                      <a:solidFill>
                        <a:srgbClr val="2A3A4A"/>
                      </a:solidFill>
                      <a:prstDash val="solid"/>
                      <a:round/>
                      <a:headEnd type="none" w="med" len="med"/>
                      <a:tailEnd type="none" w="med" len="med"/>
                    </a:lnR>
                    <a:lnT w="6350" cap="flat" cmpd="sng" algn="ctr">
                      <a:solidFill>
                        <a:srgbClr val="2A3A4A"/>
                      </a:solidFill>
                      <a:prstDash val="solid"/>
                      <a:round/>
                      <a:headEnd type="none" w="med" len="med"/>
                      <a:tailEnd type="none" w="med" len="med"/>
                    </a:lnT>
                    <a:lnB w="6350" cap="flat" cmpd="sng" algn="ctr">
                      <a:solidFill>
                        <a:srgbClr val="2A3A4A"/>
                      </a:solidFill>
                      <a:prstDash val="solid"/>
                      <a:round/>
                      <a:headEnd type="none" w="med" len="med"/>
                      <a:tailEnd type="none" w="med" len="med"/>
                    </a:lnB>
                    <a:solidFill>
                      <a:srgbClr val="005B6B"/>
                    </a:solidFill>
                  </a:tcPr>
                </a:tc>
              </a:tr>
              <a:tr h="274320">
                <a:tc>
                  <a:txBody>
                    <a:bodyPr/>
                    <a:lstStyle/>
                    <a:p>
                      <a:pPr indent="0" marL="0">
                        <a:buNone/>
                      </a:pPr>
                      <a:r>
                        <a:rPr lang="en-US" sz="900" dirty="0">
                          <a:solidFill>
                            <a:srgbClr val="E9F3F3"/>
                          </a:solidFill>
                          <a:latin typeface="Jura" pitchFamily="34" charset="0"/>
                          <a:ea typeface="Jura" pitchFamily="34" charset="-122"/>
                          <a:cs typeface="Jura" pitchFamily="34" charset="-120"/>
                        </a:rPr>
                        <a:t>OKR Key Result</a:t>
                      </a:r>
                      <a:endParaRPr lang="en-US" sz="900" dirty="0">
                        <a:latin typeface="Jura" charset="0"/>
                        <a:ea typeface="Jura" charset="0"/>
                        <a:cs typeface="Jura" charset="0"/>
                      </a:endParaRPr>
                    </a:p>
                  </a:txBody>
                  <a:tcPr marL="91440" marR="91440" marT="45720" marB="45720">
                    <a:lnL w="6350" cap="flat" cmpd="sng" algn="ctr">
                      <a:solidFill>
                        <a:srgbClr val="2A3A4A"/>
                      </a:solidFill>
                      <a:prstDash val="solid"/>
                      <a:round/>
                      <a:headEnd type="none" w="med" len="med"/>
                      <a:tailEnd type="none" w="med" len="med"/>
                    </a:lnL>
                    <a:lnR w="6350" cap="flat" cmpd="sng" algn="ctr">
                      <a:solidFill>
                        <a:srgbClr val="2A3A4A"/>
                      </a:solidFill>
                      <a:prstDash val="solid"/>
                      <a:round/>
                      <a:headEnd type="none" w="med" len="med"/>
                      <a:tailEnd type="none" w="med" len="med"/>
                    </a:lnR>
                    <a:lnT w="6350" cap="flat" cmpd="sng" algn="ctr">
                      <a:solidFill>
                        <a:srgbClr val="2A3A4A"/>
                      </a:solidFill>
                      <a:prstDash val="solid"/>
                      <a:round/>
                      <a:headEnd type="none" w="med" len="med"/>
                      <a:tailEnd type="none" w="med" len="med"/>
                    </a:lnT>
                    <a:lnB w="6350" cap="flat" cmpd="sng" algn="ctr">
                      <a:solidFill>
                        <a:srgbClr val="2A3A4A"/>
                      </a:solidFill>
                      <a:prstDash val="solid"/>
                      <a:round/>
                      <a:headEnd type="none" w="med" len="med"/>
                      <a:tailEnd type="none" w="med" len="med"/>
                    </a:lnB>
                    <a:solidFill>
                      <a:srgbClr val="005B6B"/>
                    </a:solidFill>
                  </a:tcPr>
                </a:tc>
                <a:tc>
                  <a:txBody>
                    <a:bodyPr/>
                    <a:lstStyle/>
                    <a:p>
                      <a:pPr indent="0" marL="0">
                        <a:buNone/>
                      </a:pPr>
                      <a:r>
                        <a:rPr lang="en-US" sz="900" dirty="0">
                          <a:solidFill>
                            <a:srgbClr val="E9F3F3"/>
                          </a:solidFill>
                          <a:latin typeface="Jura" pitchFamily="34" charset="0"/>
                          <a:ea typeface="Jura" pitchFamily="34" charset="-122"/>
                          <a:cs typeface="Jura" pitchFamily="34" charset="-120"/>
                        </a:rPr>
                        <a:t>→</a:t>
                      </a:r>
                      <a:endParaRPr lang="en-US" sz="900" dirty="0">
                        <a:latin typeface="Jura" charset="0"/>
                        <a:ea typeface="Jura" charset="0"/>
                        <a:cs typeface="Jura" charset="0"/>
                      </a:endParaRPr>
                    </a:p>
                  </a:txBody>
                  <a:tcPr marL="91440" marR="91440" marT="45720" marB="45720">
                    <a:lnL w="6350" cap="flat" cmpd="sng" algn="ctr">
                      <a:solidFill>
                        <a:srgbClr val="2A3A4A"/>
                      </a:solidFill>
                      <a:prstDash val="solid"/>
                      <a:round/>
                      <a:headEnd type="none" w="med" len="med"/>
                      <a:tailEnd type="none" w="med" len="med"/>
                    </a:lnL>
                    <a:lnR w="6350" cap="flat" cmpd="sng" algn="ctr">
                      <a:solidFill>
                        <a:srgbClr val="2A3A4A"/>
                      </a:solidFill>
                      <a:prstDash val="solid"/>
                      <a:round/>
                      <a:headEnd type="none" w="med" len="med"/>
                      <a:tailEnd type="none" w="med" len="med"/>
                    </a:lnR>
                    <a:lnT w="6350" cap="flat" cmpd="sng" algn="ctr">
                      <a:solidFill>
                        <a:srgbClr val="2A3A4A"/>
                      </a:solidFill>
                      <a:prstDash val="solid"/>
                      <a:round/>
                      <a:headEnd type="none" w="med" len="med"/>
                      <a:tailEnd type="none" w="med" len="med"/>
                    </a:lnT>
                    <a:lnB w="6350" cap="flat" cmpd="sng" algn="ctr">
                      <a:solidFill>
                        <a:srgbClr val="2A3A4A"/>
                      </a:solidFill>
                      <a:prstDash val="solid"/>
                      <a:round/>
                      <a:headEnd type="none" w="med" len="med"/>
                      <a:tailEnd type="none" w="med" len="med"/>
                    </a:lnB>
                    <a:solidFill>
                      <a:srgbClr val="005B6B"/>
                    </a:solidFill>
                  </a:tcPr>
                </a:tc>
                <a:tc>
                  <a:txBody>
                    <a:bodyPr/>
                    <a:lstStyle/>
                    <a:p>
                      <a:pPr indent="0" marL="0">
                        <a:buNone/>
                      </a:pPr>
                      <a:r>
                        <a:rPr lang="en-US" sz="900" dirty="0">
                          <a:solidFill>
                            <a:srgbClr val="E9F3F3"/>
                          </a:solidFill>
                          <a:latin typeface="Jura" pitchFamily="34" charset="0"/>
                          <a:ea typeface="Jura" pitchFamily="34" charset="-122"/>
                          <a:cs typeface="Jura" pitchFamily="34" charset="-120"/>
                        </a:rPr>
                        <a:t>Programme Milestone</a:t>
                      </a:r>
                      <a:endParaRPr lang="en-US" sz="900" dirty="0">
                        <a:latin typeface="Jura" charset="0"/>
                        <a:ea typeface="Jura" charset="0"/>
                        <a:cs typeface="Jura" charset="0"/>
                      </a:endParaRPr>
                    </a:p>
                  </a:txBody>
                  <a:tcPr marL="91440" marR="91440" marT="45720" marB="45720">
                    <a:lnL w="6350" cap="flat" cmpd="sng" algn="ctr">
                      <a:solidFill>
                        <a:srgbClr val="2A3A4A"/>
                      </a:solidFill>
                      <a:prstDash val="solid"/>
                      <a:round/>
                      <a:headEnd type="none" w="med" len="med"/>
                      <a:tailEnd type="none" w="med" len="med"/>
                    </a:lnL>
                    <a:lnR w="6350" cap="flat" cmpd="sng" algn="ctr">
                      <a:solidFill>
                        <a:srgbClr val="2A3A4A"/>
                      </a:solidFill>
                      <a:prstDash val="solid"/>
                      <a:round/>
                      <a:headEnd type="none" w="med" len="med"/>
                      <a:tailEnd type="none" w="med" len="med"/>
                    </a:lnR>
                    <a:lnT w="6350" cap="flat" cmpd="sng" algn="ctr">
                      <a:solidFill>
                        <a:srgbClr val="2A3A4A"/>
                      </a:solidFill>
                      <a:prstDash val="solid"/>
                      <a:round/>
                      <a:headEnd type="none" w="med" len="med"/>
                      <a:tailEnd type="none" w="med" len="med"/>
                    </a:lnT>
                    <a:lnB w="6350" cap="flat" cmpd="sng" algn="ctr">
                      <a:solidFill>
                        <a:srgbClr val="2A3A4A"/>
                      </a:solidFill>
                      <a:prstDash val="solid"/>
                      <a:round/>
                      <a:headEnd type="none" w="med" len="med"/>
                      <a:tailEnd type="none" w="med" len="med"/>
                    </a:lnB>
                    <a:solidFill>
                      <a:srgbClr val="005B6B"/>
                    </a:solidFill>
                  </a:tcPr>
                </a:tc>
                <a:tc>
                  <a:txBody>
                    <a:bodyPr/>
                    <a:lstStyle/>
                    <a:p>
                      <a:pPr indent="0" marL="0">
                        <a:buNone/>
                      </a:pPr>
                      <a:r>
                        <a:rPr lang="en-US" sz="900" dirty="0">
                          <a:solidFill>
                            <a:srgbClr val="E9F3F3"/>
                          </a:solidFill>
                          <a:latin typeface="Jura" pitchFamily="34" charset="0"/>
                          <a:ea typeface="Jura" pitchFamily="34" charset="-122"/>
                          <a:cs typeface="Jura" pitchFamily="34" charset="-120"/>
                        </a:rPr>
                        <a:t>Success criteria preserved</a:t>
                      </a:r>
                      <a:endParaRPr lang="en-US" sz="900" dirty="0">
                        <a:latin typeface="Jura" charset="0"/>
                        <a:ea typeface="Jura" charset="0"/>
                        <a:cs typeface="Jura" charset="0"/>
                      </a:endParaRPr>
                    </a:p>
                  </a:txBody>
                  <a:tcPr marL="91440" marR="91440" marT="45720" marB="45720">
                    <a:lnL w="6350" cap="flat" cmpd="sng" algn="ctr">
                      <a:solidFill>
                        <a:srgbClr val="2A3A4A"/>
                      </a:solidFill>
                      <a:prstDash val="solid"/>
                      <a:round/>
                      <a:headEnd type="none" w="med" len="med"/>
                      <a:tailEnd type="none" w="med" len="med"/>
                    </a:lnL>
                    <a:lnR w="6350" cap="flat" cmpd="sng" algn="ctr">
                      <a:solidFill>
                        <a:srgbClr val="2A3A4A"/>
                      </a:solidFill>
                      <a:prstDash val="solid"/>
                      <a:round/>
                      <a:headEnd type="none" w="med" len="med"/>
                      <a:tailEnd type="none" w="med" len="med"/>
                    </a:lnR>
                    <a:lnT w="6350" cap="flat" cmpd="sng" algn="ctr">
                      <a:solidFill>
                        <a:srgbClr val="2A3A4A"/>
                      </a:solidFill>
                      <a:prstDash val="solid"/>
                      <a:round/>
                      <a:headEnd type="none" w="med" len="med"/>
                      <a:tailEnd type="none" w="med" len="med"/>
                    </a:lnT>
                    <a:lnB w="6350" cap="flat" cmpd="sng" algn="ctr">
                      <a:solidFill>
                        <a:srgbClr val="2A3A4A"/>
                      </a:solidFill>
                      <a:prstDash val="solid"/>
                      <a:round/>
                      <a:headEnd type="none" w="med" len="med"/>
                      <a:tailEnd type="none" w="med" len="med"/>
                    </a:lnB>
                    <a:solidFill>
                      <a:srgbClr val="005B6B"/>
                    </a:solidFill>
                  </a:tcPr>
                </a:tc>
              </a:tr>
              <a:tr h="274320">
                <a:tc>
                  <a:txBody>
                    <a:bodyPr/>
                    <a:lstStyle/>
                    <a:p>
                      <a:pPr indent="0" marL="0">
                        <a:buNone/>
                      </a:pPr>
                      <a:r>
                        <a:rPr lang="en-US" sz="900" dirty="0">
                          <a:solidFill>
                            <a:srgbClr val="E9F3F3"/>
                          </a:solidFill>
                          <a:latin typeface="Jura" pitchFamily="34" charset="0"/>
                          <a:ea typeface="Jura" pitchFamily="34" charset="-122"/>
                          <a:cs typeface="Jura" pitchFamily="34" charset="-120"/>
                        </a:rPr>
                        <a:t>KPI Target</a:t>
                      </a:r>
                      <a:endParaRPr lang="en-US" sz="900" dirty="0">
                        <a:latin typeface="Jura" charset="0"/>
                        <a:ea typeface="Jura" charset="0"/>
                        <a:cs typeface="Jura" charset="0"/>
                      </a:endParaRPr>
                    </a:p>
                  </a:txBody>
                  <a:tcPr marL="91440" marR="91440" marT="45720" marB="45720">
                    <a:lnL w="6350" cap="flat" cmpd="sng" algn="ctr">
                      <a:solidFill>
                        <a:srgbClr val="2A3A4A"/>
                      </a:solidFill>
                      <a:prstDash val="solid"/>
                      <a:round/>
                      <a:headEnd type="none" w="med" len="med"/>
                      <a:tailEnd type="none" w="med" len="med"/>
                    </a:lnL>
                    <a:lnR w="6350" cap="flat" cmpd="sng" algn="ctr">
                      <a:solidFill>
                        <a:srgbClr val="2A3A4A"/>
                      </a:solidFill>
                      <a:prstDash val="solid"/>
                      <a:round/>
                      <a:headEnd type="none" w="med" len="med"/>
                      <a:tailEnd type="none" w="med" len="med"/>
                    </a:lnR>
                    <a:lnT w="6350" cap="flat" cmpd="sng" algn="ctr">
                      <a:solidFill>
                        <a:srgbClr val="2A3A4A"/>
                      </a:solidFill>
                      <a:prstDash val="solid"/>
                      <a:round/>
                      <a:headEnd type="none" w="med" len="med"/>
                      <a:tailEnd type="none" w="med" len="med"/>
                    </a:lnT>
                    <a:lnB w="6350" cap="flat" cmpd="sng" algn="ctr">
                      <a:solidFill>
                        <a:srgbClr val="2A3A4A"/>
                      </a:solidFill>
                      <a:prstDash val="solid"/>
                      <a:round/>
                      <a:headEnd type="none" w="med" len="med"/>
                      <a:tailEnd type="none" w="med" len="med"/>
                    </a:lnB>
                    <a:solidFill>
                      <a:srgbClr val="005B6B"/>
                    </a:solidFill>
                  </a:tcPr>
                </a:tc>
                <a:tc>
                  <a:txBody>
                    <a:bodyPr/>
                    <a:lstStyle/>
                    <a:p>
                      <a:pPr indent="0" marL="0">
                        <a:buNone/>
                      </a:pPr>
                      <a:r>
                        <a:rPr lang="en-US" sz="900" dirty="0">
                          <a:solidFill>
                            <a:srgbClr val="E9F3F3"/>
                          </a:solidFill>
                          <a:latin typeface="Jura" pitchFamily="34" charset="0"/>
                          <a:ea typeface="Jura" pitchFamily="34" charset="-122"/>
                          <a:cs typeface="Jura" pitchFamily="34" charset="-120"/>
                        </a:rPr>
                        <a:t>→</a:t>
                      </a:r>
                      <a:endParaRPr lang="en-US" sz="900" dirty="0">
                        <a:latin typeface="Jura" charset="0"/>
                        <a:ea typeface="Jura" charset="0"/>
                        <a:cs typeface="Jura" charset="0"/>
                      </a:endParaRPr>
                    </a:p>
                  </a:txBody>
                  <a:tcPr marL="91440" marR="91440" marT="45720" marB="45720">
                    <a:lnL w="6350" cap="flat" cmpd="sng" algn="ctr">
                      <a:solidFill>
                        <a:srgbClr val="2A3A4A"/>
                      </a:solidFill>
                      <a:prstDash val="solid"/>
                      <a:round/>
                      <a:headEnd type="none" w="med" len="med"/>
                      <a:tailEnd type="none" w="med" len="med"/>
                    </a:lnL>
                    <a:lnR w="6350" cap="flat" cmpd="sng" algn="ctr">
                      <a:solidFill>
                        <a:srgbClr val="2A3A4A"/>
                      </a:solidFill>
                      <a:prstDash val="solid"/>
                      <a:round/>
                      <a:headEnd type="none" w="med" len="med"/>
                      <a:tailEnd type="none" w="med" len="med"/>
                    </a:lnR>
                    <a:lnT w="6350" cap="flat" cmpd="sng" algn="ctr">
                      <a:solidFill>
                        <a:srgbClr val="2A3A4A"/>
                      </a:solidFill>
                      <a:prstDash val="solid"/>
                      <a:round/>
                      <a:headEnd type="none" w="med" len="med"/>
                      <a:tailEnd type="none" w="med" len="med"/>
                    </a:lnT>
                    <a:lnB w="6350" cap="flat" cmpd="sng" algn="ctr">
                      <a:solidFill>
                        <a:srgbClr val="2A3A4A"/>
                      </a:solidFill>
                      <a:prstDash val="solid"/>
                      <a:round/>
                      <a:headEnd type="none" w="med" len="med"/>
                      <a:tailEnd type="none" w="med" len="med"/>
                    </a:lnB>
                    <a:solidFill>
                      <a:srgbClr val="005B6B"/>
                    </a:solidFill>
                  </a:tcPr>
                </a:tc>
                <a:tc>
                  <a:txBody>
                    <a:bodyPr/>
                    <a:lstStyle/>
                    <a:p>
                      <a:pPr indent="0" marL="0">
                        <a:buNone/>
                      </a:pPr>
                      <a:r>
                        <a:rPr lang="en-US" sz="900" dirty="0">
                          <a:solidFill>
                            <a:srgbClr val="E9F3F3"/>
                          </a:solidFill>
                          <a:latin typeface="Jura" pitchFamily="34" charset="0"/>
                          <a:ea typeface="Jura" pitchFamily="34" charset="-122"/>
                          <a:cs typeface="Jura" pitchFamily="34" charset="-120"/>
                        </a:rPr>
                        <a:t>Acceptance Criterion</a:t>
                      </a:r>
                      <a:endParaRPr lang="en-US" sz="900" dirty="0">
                        <a:latin typeface="Jura" charset="0"/>
                        <a:ea typeface="Jura" charset="0"/>
                        <a:cs typeface="Jura" charset="0"/>
                      </a:endParaRPr>
                    </a:p>
                  </a:txBody>
                  <a:tcPr marL="91440" marR="91440" marT="45720" marB="45720">
                    <a:lnL w="6350" cap="flat" cmpd="sng" algn="ctr">
                      <a:solidFill>
                        <a:srgbClr val="2A3A4A"/>
                      </a:solidFill>
                      <a:prstDash val="solid"/>
                      <a:round/>
                      <a:headEnd type="none" w="med" len="med"/>
                      <a:tailEnd type="none" w="med" len="med"/>
                    </a:lnL>
                    <a:lnR w="6350" cap="flat" cmpd="sng" algn="ctr">
                      <a:solidFill>
                        <a:srgbClr val="2A3A4A"/>
                      </a:solidFill>
                      <a:prstDash val="solid"/>
                      <a:round/>
                      <a:headEnd type="none" w="med" len="med"/>
                      <a:tailEnd type="none" w="med" len="med"/>
                    </a:lnR>
                    <a:lnT w="6350" cap="flat" cmpd="sng" algn="ctr">
                      <a:solidFill>
                        <a:srgbClr val="2A3A4A"/>
                      </a:solidFill>
                      <a:prstDash val="solid"/>
                      <a:round/>
                      <a:headEnd type="none" w="med" len="med"/>
                      <a:tailEnd type="none" w="med" len="med"/>
                    </a:lnT>
                    <a:lnB w="6350" cap="flat" cmpd="sng" algn="ctr">
                      <a:solidFill>
                        <a:srgbClr val="2A3A4A"/>
                      </a:solidFill>
                      <a:prstDash val="solid"/>
                      <a:round/>
                      <a:headEnd type="none" w="med" len="med"/>
                      <a:tailEnd type="none" w="med" len="med"/>
                    </a:lnB>
                    <a:solidFill>
                      <a:srgbClr val="005B6B"/>
                    </a:solidFill>
                  </a:tcPr>
                </a:tc>
                <a:tc>
                  <a:txBody>
                    <a:bodyPr/>
                    <a:lstStyle/>
                    <a:p>
                      <a:pPr indent="0" marL="0">
                        <a:buNone/>
                      </a:pPr>
                      <a:r>
                        <a:rPr lang="en-US" sz="900" dirty="0">
                          <a:solidFill>
                            <a:srgbClr val="E9F3F3"/>
                          </a:solidFill>
                          <a:latin typeface="Jura" pitchFamily="34" charset="0"/>
                          <a:ea typeface="Jura" pitchFamily="34" charset="-122"/>
                          <a:cs typeface="Jura" pitchFamily="34" charset="-120"/>
                        </a:rPr>
                        <a:t>Measurability preserved</a:t>
                      </a:r>
                      <a:endParaRPr lang="en-US" sz="900" dirty="0">
                        <a:latin typeface="Jura" charset="0"/>
                        <a:ea typeface="Jura" charset="0"/>
                        <a:cs typeface="Jura" charset="0"/>
                      </a:endParaRPr>
                    </a:p>
                  </a:txBody>
                  <a:tcPr marL="91440" marR="91440" marT="45720" marB="45720">
                    <a:lnL w="6350" cap="flat" cmpd="sng" algn="ctr">
                      <a:solidFill>
                        <a:srgbClr val="2A3A4A"/>
                      </a:solidFill>
                      <a:prstDash val="solid"/>
                      <a:round/>
                      <a:headEnd type="none" w="med" len="med"/>
                      <a:tailEnd type="none" w="med" len="med"/>
                    </a:lnL>
                    <a:lnR w="6350" cap="flat" cmpd="sng" algn="ctr">
                      <a:solidFill>
                        <a:srgbClr val="2A3A4A"/>
                      </a:solidFill>
                      <a:prstDash val="solid"/>
                      <a:round/>
                      <a:headEnd type="none" w="med" len="med"/>
                      <a:tailEnd type="none" w="med" len="med"/>
                    </a:lnR>
                    <a:lnT w="6350" cap="flat" cmpd="sng" algn="ctr">
                      <a:solidFill>
                        <a:srgbClr val="2A3A4A"/>
                      </a:solidFill>
                      <a:prstDash val="solid"/>
                      <a:round/>
                      <a:headEnd type="none" w="med" len="med"/>
                      <a:tailEnd type="none" w="med" len="med"/>
                    </a:lnT>
                    <a:lnB w="6350" cap="flat" cmpd="sng" algn="ctr">
                      <a:solidFill>
                        <a:srgbClr val="2A3A4A"/>
                      </a:solidFill>
                      <a:prstDash val="solid"/>
                      <a:round/>
                      <a:headEnd type="none" w="med" len="med"/>
                      <a:tailEnd type="none" w="med" len="med"/>
                    </a:lnB>
                    <a:solidFill>
                      <a:srgbClr val="005B6B"/>
                    </a:solidFill>
                  </a:tcPr>
                </a:tc>
              </a:tr>
              <a:tr h="274320">
                <a:tc>
                  <a:txBody>
                    <a:bodyPr/>
                    <a:lstStyle/>
                    <a:p>
                      <a:pPr indent="0" marL="0">
                        <a:buNone/>
                      </a:pPr>
                      <a:r>
                        <a:rPr lang="en-US" sz="900" dirty="0">
                          <a:solidFill>
                            <a:srgbClr val="E9F3F3"/>
                          </a:solidFill>
                          <a:latin typeface="Jura" pitchFamily="34" charset="0"/>
                          <a:ea typeface="Jura" pitchFamily="34" charset="-122"/>
                          <a:cs typeface="Jura" pitchFamily="34" charset="-120"/>
                        </a:rPr>
                        <a:t>VP Solution</a:t>
                      </a:r>
                      <a:endParaRPr lang="en-US" sz="900" dirty="0">
                        <a:latin typeface="Jura" charset="0"/>
                        <a:ea typeface="Jura" charset="0"/>
                        <a:cs typeface="Jura" charset="0"/>
                      </a:endParaRPr>
                    </a:p>
                  </a:txBody>
                  <a:tcPr marL="91440" marR="91440" marT="45720" marB="45720">
                    <a:lnL w="6350" cap="flat" cmpd="sng" algn="ctr">
                      <a:solidFill>
                        <a:srgbClr val="2A3A4A"/>
                      </a:solidFill>
                      <a:prstDash val="solid"/>
                      <a:round/>
                      <a:headEnd type="none" w="med" len="med"/>
                      <a:tailEnd type="none" w="med" len="med"/>
                    </a:lnL>
                    <a:lnR w="6350" cap="flat" cmpd="sng" algn="ctr">
                      <a:solidFill>
                        <a:srgbClr val="2A3A4A"/>
                      </a:solidFill>
                      <a:prstDash val="solid"/>
                      <a:round/>
                      <a:headEnd type="none" w="med" len="med"/>
                      <a:tailEnd type="none" w="med" len="med"/>
                    </a:lnR>
                    <a:lnT w="6350" cap="flat" cmpd="sng" algn="ctr">
                      <a:solidFill>
                        <a:srgbClr val="2A3A4A"/>
                      </a:solidFill>
                      <a:prstDash val="solid"/>
                      <a:round/>
                      <a:headEnd type="none" w="med" len="med"/>
                      <a:tailEnd type="none" w="med" len="med"/>
                    </a:lnT>
                    <a:lnB w="6350" cap="flat" cmpd="sng" algn="ctr">
                      <a:solidFill>
                        <a:srgbClr val="2A3A4A"/>
                      </a:solidFill>
                      <a:prstDash val="solid"/>
                      <a:round/>
                      <a:headEnd type="none" w="med" len="med"/>
                      <a:tailEnd type="none" w="med" len="med"/>
                    </a:lnB>
                    <a:solidFill>
                      <a:srgbClr val="005B6B"/>
                    </a:solidFill>
                  </a:tcPr>
                </a:tc>
                <a:tc>
                  <a:txBody>
                    <a:bodyPr/>
                    <a:lstStyle/>
                    <a:p>
                      <a:pPr indent="0" marL="0">
                        <a:buNone/>
                      </a:pPr>
                      <a:r>
                        <a:rPr lang="en-US" sz="900" dirty="0">
                          <a:solidFill>
                            <a:srgbClr val="E9F3F3"/>
                          </a:solidFill>
                          <a:latin typeface="Jura" pitchFamily="34" charset="0"/>
                          <a:ea typeface="Jura" pitchFamily="34" charset="-122"/>
                          <a:cs typeface="Jura" pitchFamily="34" charset="-120"/>
                        </a:rPr>
                        <a:t>→</a:t>
                      </a:r>
                      <a:endParaRPr lang="en-US" sz="900" dirty="0">
                        <a:latin typeface="Jura" charset="0"/>
                        <a:ea typeface="Jura" charset="0"/>
                        <a:cs typeface="Jura" charset="0"/>
                      </a:endParaRPr>
                    </a:p>
                  </a:txBody>
                  <a:tcPr marL="91440" marR="91440" marT="45720" marB="45720">
                    <a:lnL w="6350" cap="flat" cmpd="sng" algn="ctr">
                      <a:solidFill>
                        <a:srgbClr val="2A3A4A"/>
                      </a:solidFill>
                      <a:prstDash val="solid"/>
                      <a:round/>
                      <a:headEnd type="none" w="med" len="med"/>
                      <a:tailEnd type="none" w="med" len="med"/>
                    </a:lnL>
                    <a:lnR w="6350" cap="flat" cmpd="sng" algn="ctr">
                      <a:solidFill>
                        <a:srgbClr val="2A3A4A"/>
                      </a:solidFill>
                      <a:prstDash val="solid"/>
                      <a:round/>
                      <a:headEnd type="none" w="med" len="med"/>
                      <a:tailEnd type="none" w="med" len="med"/>
                    </a:lnR>
                    <a:lnT w="6350" cap="flat" cmpd="sng" algn="ctr">
                      <a:solidFill>
                        <a:srgbClr val="2A3A4A"/>
                      </a:solidFill>
                      <a:prstDash val="solid"/>
                      <a:round/>
                      <a:headEnd type="none" w="med" len="med"/>
                      <a:tailEnd type="none" w="med" len="med"/>
                    </a:lnT>
                    <a:lnB w="6350" cap="flat" cmpd="sng" algn="ctr">
                      <a:solidFill>
                        <a:srgbClr val="2A3A4A"/>
                      </a:solidFill>
                      <a:prstDash val="solid"/>
                      <a:round/>
                      <a:headEnd type="none" w="med" len="med"/>
                      <a:tailEnd type="none" w="med" len="med"/>
                    </a:lnB>
                    <a:solidFill>
                      <a:srgbClr val="005B6B"/>
                    </a:solidFill>
                  </a:tcPr>
                </a:tc>
                <a:tc>
                  <a:txBody>
                    <a:bodyPr/>
                    <a:lstStyle/>
                    <a:p>
                      <a:pPr indent="0" marL="0">
                        <a:buNone/>
                      </a:pPr>
                      <a:r>
                        <a:rPr lang="en-US" sz="900" dirty="0">
                          <a:solidFill>
                            <a:srgbClr val="E9F3F3"/>
                          </a:solidFill>
                          <a:latin typeface="Jura" pitchFamily="34" charset="0"/>
                          <a:ea typeface="Jura" pitchFamily="34" charset="-122"/>
                          <a:cs typeface="Jura" pitchFamily="34" charset="-120"/>
                        </a:rPr>
                        <a:t>EFS Epic</a:t>
                      </a:r>
                      <a:endParaRPr lang="en-US" sz="900" dirty="0">
                        <a:latin typeface="Jura" charset="0"/>
                        <a:ea typeface="Jura" charset="0"/>
                        <a:cs typeface="Jura" charset="0"/>
                      </a:endParaRPr>
                    </a:p>
                  </a:txBody>
                  <a:tcPr marL="91440" marR="91440" marT="45720" marB="45720">
                    <a:lnL w="6350" cap="flat" cmpd="sng" algn="ctr">
                      <a:solidFill>
                        <a:srgbClr val="2A3A4A"/>
                      </a:solidFill>
                      <a:prstDash val="solid"/>
                      <a:round/>
                      <a:headEnd type="none" w="med" len="med"/>
                      <a:tailEnd type="none" w="med" len="med"/>
                    </a:lnL>
                    <a:lnR w="6350" cap="flat" cmpd="sng" algn="ctr">
                      <a:solidFill>
                        <a:srgbClr val="2A3A4A"/>
                      </a:solidFill>
                      <a:prstDash val="solid"/>
                      <a:round/>
                      <a:headEnd type="none" w="med" len="med"/>
                      <a:tailEnd type="none" w="med" len="med"/>
                    </a:lnR>
                    <a:lnT w="6350" cap="flat" cmpd="sng" algn="ctr">
                      <a:solidFill>
                        <a:srgbClr val="2A3A4A"/>
                      </a:solidFill>
                      <a:prstDash val="solid"/>
                      <a:round/>
                      <a:headEnd type="none" w="med" len="med"/>
                      <a:tailEnd type="none" w="med" len="med"/>
                    </a:lnT>
                    <a:lnB w="6350" cap="flat" cmpd="sng" algn="ctr">
                      <a:solidFill>
                        <a:srgbClr val="2A3A4A"/>
                      </a:solidFill>
                      <a:prstDash val="solid"/>
                      <a:round/>
                      <a:headEnd type="none" w="med" len="med"/>
                      <a:tailEnd type="none" w="med" len="med"/>
                    </a:lnB>
                    <a:solidFill>
                      <a:srgbClr val="005B6B"/>
                    </a:solidFill>
                  </a:tcPr>
                </a:tc>
                <a:tc>
                  <a:txBody>
                    <a:bodyPr/>
                    <a:lstStyle/>
                    <a:p>
                      <a:pPr indent="0" marL="0">
                        <a:buNone/>
                      </a:pPr>
                      <a:r>
                        <a:rPr lang="en-US" sz="900" dirty="0">
                          <a:solidFill>
                            <a:srgbClr val="E9F3F3"/>
                          </a:solidFill>
                          <a:latin typeface="Jura" pitchFamily="34" charset="0"/>
                          <a:ea typeface="Jura" pitchFamily="34" charset="-122"/>
                          <a:cs typeface="Jura" pitchFamily="34" charset="-120"/>
                        </a:rPr>
                        <a:t>Customer value preserved</a:t>
                      </a:r>
                      <a:endParaRPr lang="en-US" sz="900" dirty="0">
                        <a:latin typeface="Jura" charset="0"/>
                        <a:ea typeface="Jura" charset="0"/>
                        <a:cs typeface="Jura" charset="0"/>
                      </a:endParaRPr>
                    </a:p>
                  </a:txBody>
                  <a:tcPr marL="91440" marR="91440" marT="45720" marB="45720">
                    <a:lnL w="6350" cap="flat" cmpd="sng" algn="ctr">
                      <a:solidFill>
                        <a:srgbClr val="2A3A4A"/>
                      </a:solidFill>
                      <a:prstDash val="solid"/>
                      <a:round/>
                      <a:headEnd type="none" w="med" len="med"/>
                      <a:tailEnd type="none" w="med" len="med"/>
                    </a:lnL>
                    <a:lnR w="6350" cap="flat" cmpd="sng" algn="ctr">
                      <a:solidFill>
                        <a:srgbClr val="2A3A4A"/>
                      </a:solidFill>
                      <a:prstDash val="solid"/>
                      <a:round/>
                      <a:headEnd type="none" w="med" len="med"/>
                      <a:tailEnd type="none" w="med" len="med"/>
                    </a:lnR>
                    <a:lnT w="6350" cap="flat" cmpd="sng" algn="ctr">
                      <a:solidFill>
                        <a:srgbClr val="2A3A4A"/>
                      </a:solidFill>
                      <a:prstDash val="solid"/>
                      <a:round/>
                      <a:headEnd type="none" w="med" len="med"/>
                      <a:tailEnd type="none" w="med" len="med"/>
                    </a:lnT>
                    <a:lnB w="6350" cap="flat" cmpd="sng" algn="ctr">
                      <a:solidFill>
                        <a:srgbClr val="2A3A4A"/>
                      </a:solidFill>
                      <a:prstDash val="solid"/>
                      <a:round/>
                      <a:headEnd type="none" w="med" len="med"/>
                      <a:tailEnd type="none" w="med" len="med"/>
                    </a:lnB>
                    <a:solidFill>
                      <a:srgbClr val="005B6B"/>
                    </a:solidFill>
                  </a:tcPr>
                </a:tc>
              </a:tr>
              <a:tr h="274320">
                <a:tc>
                  <a:txBody>
                    <a:bodyPr/>
                    <a:lstStyle/>
                    <a:p>
                      <a:pPr indent="0" marL="0">
                        <a:buNone/>
                      </a:pPr>
                      <a:r>
                        <a:rPr lang="en-US" sz="900" dirty="0">
                          <a:solidFill>
                            <a:srgbClr val="E9F3F3"/>
                          </a:solidFill>
                          <a:latin typeface="Jura" pitchFamily="34" charset="0"/>
                          <a:ea typeface="Jura" pitchFamily="34" charset="-122"/>
                          <a:cs typeface="Jura" pitchFamily="34" charset="-120"/>
                        </a:rPr>
                        <a:t>VP Benefit (quantified)</a:t>
                      </a:r>
                      <a:endParaRPr lang="en-US" sz="900" dirty="0">
                        <a:latin typeface="Jura" charset="0"/>
                        <a:ea typeface="Jura" charset="0"/>
                        <a:cs typeface="Jura" charset="0"/>
                      </a:endParaRPr>
                    </a:p>
                  </a:txBody>
                  <a:tcPr marL="91440" marR="91440" marT="45720" marB="45720">
                    <a:lnL w="6350" cap="flat" cmpd="sng" algn="ctr">
                      <a:solidFill>
                        <a:srgbClr val="2A3A4A"/>
                      </a:solidFill>
                      <a:prstDash val="solid"/>
                      <a:round/>
                      <a:headEnd type="none" w="med" len="med"/>
                      <a:tailEnd type="none" w="med" len="med"/>
                    </a:lnL>
                    <a:lnR w="6350" cap="flat" cmpd="sng" algn="ctr">
                      <a:solidFill>
                        <a:srgbClr val="2A3A4A"/>
                      </a:solidFill>
                      <a:prstDash val="solid"/>
                      <a:round/>
                      <a:headEnd type="none" w="med" len="med"/>
                      <a:tailEnd type="none" w="med" len="med"/>
                    </a:lnR>
                    <a:lnT w="6350" cap="flat" cmpd="sng" algn="ctr">
                      <a:solidFill>
                        <a:srgbClr val="2A3A4A"/>
                      </a:solidFill>
                      <a:prstDash val="solid"/>
                      <a:round/>
                      <a:headEnd type="none" w="med" len="med"/>
                      <a:tailEnd type="none" w="med" len="med"/>
                    </a:lnT>
                    <a:lnB w="6350" cap="flat" cmpd="sng" algn="ctr">
                      <a:solidFill>
                        <a:srgbClr val="2A3A4A"/>
                      </a:solidFill>
                      <a:prstDash val="solid"/>
                      <a:round/>
                      <a:headEnd type="none" w="med" len="med"/>
                      <a:tailEnd type="none" w="med" len="med"/>
                    </a:lnB>
                    <a:solidFill>
                      <a:srgbClr val="005B6B"/>
                    </a:solidFill>
                  </a:tcPr>
                </a:tc>
                <a:tc>
                  <a:txBody>
                    <a:bodyPr/>
                    <a:lstStyle/>
                    <a:p>
                      <a:pPr indent="0" marL="0">
                        <a:buNone/>
                      </a:pPr>
                      <a:r>
                        <a:rPr lang="en-US" sz="900" dirty="0">
                          <a:solidFill>
                            <a:srgbClr val="E9F3F3"/>
                          </a:solidFill>
                          <a:latin typeface="Jura" pitchFamily="34" charset="0"/>
                          <a:ea typeface="Jura" pitchFamily="34" charset="-122"/>
                          <a:cs typeface="Jura" pitchFamily="34" charset="-120"/>
                        </a:rPr>
                        <a:t>→</a:t>
                      </a:r>
                      <a:endParaRPr lang="en-US" sz="900" dirty="0">
                        <a:latin typeface="Jura" charset="0"/>
                        <a:ea typeface="Jura" charset="0"/>
                        <a:cs typeface="Jura" charset="0"/>
                      </a:endParaRPr>
                    </a:p>
                  </a:txBody>
                  <a:tcPr marL="91440" marR="91440" marT="45720" marB="45720">
                    <a:lnL w="6350" cap="flat" cmpd="sng" algn="ctr">
                      <a:solidFill>
                        <a:srgbClr val="2A3A4A"/>
                      </a:solidFill>
                      <a:prstDash val="solid"/>
                      <a:round/>
                      <a:headEnd type="none" w="med" len="med"/>
                      <a:tailEnd type="none" w="med" len="med"/>
                    </a:lnL>
                    <a:lnR w="6350" cap="flat" cmpd="sng" algn="ctr">
                      <a:solidFill>
                        <a:srgbClr val="2A3A4A"/>
                      </a:solidFill>
                      <a:prstDash val="solid"/>
                      <a:round/>
                      <a:headEnd type="none" w="med" len="med"/>
                      <a:tailEnd type="none" w="med" len="med"/>
                    </a:lnR>
                    <a:lnT w="6350" cap="flat" cmpd="sng" algn="ctr">
                      <a:solidFill>
                        <a:srgbClr val="2A3A4A"/>
                      </a:solidFill>
                      <a:prstDash val="solid"/>
                      <a:round/>
                      <a:headEnd type="none" w="med" len="med"/>
                      <a:tailEnd type="none" w="med" len="med"/>
                    </a:lnT>
                    <a:lnB w="6350" cap="flat" cmpd="sng" algn="ctr">
                      <a:solidFill>
                        <a:srgbClr val="2A3A4A"/>
                      </a:solidFill>
                      <a:prstDash val="solid"/>
                      <a:round/>
                      <a:headEnd type="none" w="med" len="med"/>
                      <a:tailEnd type="none" w="med" len="med"/>
                    </a:lnB>
                    <a:solidFill>
                      <a:srgbClr val="005B6B"/>
                    </a:solidFill>
                  </a:tcPr>
                </a:tc>
                <a:tc>
                  <a:txBody>
                    <a:bodyPr/>
                    <a:lstStyle/>
                    <a:p>
                      <a:pPr indent="0" marL="0">
                        <a:buNone/>
                      </a:pPr>
                      <a:r>
                        <a:rPr lang="en-US" sz="900" dirty="0">
                          <a:solidFill>
                            <a:srgbClr val="E9F3F3"/>
                          </a:solidFill>
                          <a:latin typeface="Jura" pitchFamily="34" charset="0"/>
                          <a:ea typeface="Jura" pitchFamily="34" charset="-122"/>
                          <a:cs typeface="Jura" pitchFamily="34" charset="-120"/>
                        </a:rPr>
                        <a:t>EFS Feature</a:t>
                      </a:r>
                      <a:endParaRPr lang="en-US" sz="900" dirty="0">
                        <a:latin typeface="Jura" charset="0"/>
                        <a:ea typeface="Jura" charset="0"/>
                        <a:cs typeface="Jura" charset="0"/>
                      </a:endParaRPr>
                    </a:p>
                  </a:txBody>
                  <a:tcPr marL="91440" marR="91440" marT="45720" marB="45720">
                    <a:lnL w="6350" cap="flat" cmpd="sng" algn="ctr">
                      <a:solidFill>
                        <a:srgbClr val="2A3A4A"/>
                      </a:solidFill>
                      <a:prstDash val="solid"/>
                      <a:round/>
                      <a:headEnd type="none" w="med" len="med"/>
                      <a:tailEnd type="none" w="med" len="med"/>
                    </a:lnL>
                    <a:lnR w="6350" cap="flat" cmpd="sng" algn="ctr">
                      <a:solidFill>
                        <a:srgbClr val="2A3A4A"/>
                      </a:solidFill>
                      <a:prstDash val="solid"/>
                      <a:round/>
                      <a:headEnd type="none" w="med" len="med"/>
                      <a:tailEnd type="none" w="med" len="med"/>
                    </a:lnR>
                    <a:lnT w="6350" cap="flat" cmpd="sng" algn="ctr">
                      <a:solidFill>
                        <a:srgbClr val="2A3A4A"/>
                      </a:solidFill>
                      <a:prstDash val="solid"/>
                      <a:round/>
                      <a:headEnd type="none" w="med" len="med"/>
                      <a:tailEnd type="none" w="med" len="med"/>
                    </a:lnT>
                    <a:lnB w="6350" cap="flat" cmpd="sng" algn="ctr">
                      <a:solidFill>
                        <a:srgbClr val="2A3A4A"/>
                      </a:solidFill>
                      <a:prstDash val="solid"/>
                      <a:round/>
                      <a:headEnd type="none" w="med" len="med"/>
                      <a:tailEnd type="none" w="med" len="med"/>
                    </a:lnB>
                    <a:solidFill>
                      <a:srgbClr val="005B6B"/>
                    </a:solidFill>
                  </a:tcPr>
                </a:tc>
                <a:tc>
                  <a:txBody>
                    <a:bodyPr/>
                    <a:lstStyle/>
                    <a:p>
                      <a:pPr indent="0" marL="0">
                        <a:buNone/>
                      </a:pPr>
                      <a:r>
                        <a:rPr lang="en-US" sz="900" dirty="0">
                          <a:solidFill>
                            <a:srgbClr val="E9F3F3"/>
                          </a:solidFill>
                          <a:latin typeface="Jura" pitchFamily="34" charset="0"/>
                          <a:ea typeface="Jura" pitchFamily="34" charset="-122"/>
                          <a:cs typeface="Jura" pitchFamily="34" charset="-120"/>
                        </a:rPr>
                        <a:t>Benefit decomposition</a:t>
                      </a:r>
                      <a:endParaRPr lang="en-US" sz="900" dirty="0">
                        <a:latin typeface="Jura" charset="0"/>
                        <a:ea typeface="Jura" charset="0"/>
                        <a:cs typeface="Jura" charset="0"/>
                      </a:endParaRPr>
                    </a:p>
                  </a:txBody>
                  <a:tcPr marL="91440" marR="91440" marT="45720" marB="45720">
                    <a:lnL w="6350" cap="flat" cmpd="sng" algn="ctr">
                      <a:solidFill>
                        <a:srgbClr val="2A3A4A"/>
                      </a:solidFill>
                      <a:prstDash val="solid"/>
                      <a:round/>
                      <a:headEnd type="none" w="med" len="med"/>
                      <a:tailEnd type="none" w="med" len="med"/>
                    </a:lnL>
                    <a:lnR w="6350" cap="flat" cmpd="sng" algn="ctr">
                      <a:solidFill>
                        <a:srgbClr val="2A3A4A"/>
                      </a:solidFill>
                      <a:prstDash val="solid"/>
                      <a:round/>
                      <a:headEnd type="none" w="med" len="med"/>
                      <a:tailEnd type="none" w="med" len="med"/>
                    </a:lnR>
                    <a:lnT w="6350" cap="flat" cmpd="sng" algn="ctr">
                      <a:solidFill>
                        <a:srgbClr val="2A3A4A"/>
                      </a:solidFill>
                      <a:prstDash val="solid"/>
                      <a:round/>
                      <a:headEnd type="none" w="med" len="med"/>
                      <a:tailEnd type="none" w="med" len="med"/>
                    </a:lnT>
                    <a:lnB w="6350" cap="flat" cmpd="sng" algn="ctr">
                      <a:solidFill>
                        <a:srgbClr val="2A3A4A"/>
                      </a:solidFill>
                      <a:prstDash val="solid"/>
                      <a:round/>
                      <a:headEnd type="none" w="med" len="med"/>
                      <a:tailEnd type="none" w="med" len="med"/>
                    </a:lnB>
                    <a:solidFill>
                      <a:srgbClr val="005B6B"/>
                    </a:solidFill>
                  </a:tcPr>
                </a:tc>
              </a:tr>
              <a:tr h="274320">
                <a:tc>
                  <a:txBody>
                    <a:bodyPr/>
                    <a:lstStyle/>
                    <a:p>
                      <a:pPr indent="0" marL="0">
                        <a:buNone/>
                      </a:pPr>
                      <a:r>
                        <a:rPr lang="en-US" sz="900" dirty="0">
                          <a:solidFill>
                            <a:srgbClr val="E9F3F3"/>
                          </a:solidFill>
                          <a:latin typeface="Jura" pitchFamily="34" charset="0"/>
                          <a:ea typeface="Jura" pitchFamily="34" charset="-122"/>
                          <a:cs typeface="Jura" pitchFamily="34" charset="-120"/>
                        </a:rPr>
                        <a:t>Kano Must-Be Feature</a:t>
                      </a:r>
                      <a:endParaRPr lang="en-US" sz="900" dirty="0">
                        <a:latin typeface="Jura" charset="0"/>
                        <a:ea typeface="Jura" charset="0"/>
                        <a:cs typeface="Jura" charset="0"/>
                      </a:endParaRPr>
                    </a:p>
                  </a:txBody>
                  <a:tcPr marL="91440" marR="91440" marT="45720" marB="45720">
                    <a:lnL w="6350" cap="flat" cmpd="sng" algn="ctr">
                      <a:solidFill>
                        <a:srgbClr val="2A3A4A"/>
                      </a:solidFill>
                      <a:prstDash val="solid"/>
                      <a:round/>
                      <a:headEnd type="none" w="med" len="med"/>
                      <a:tailEnd type="none" w="med" len="med"/>
                    </a:lnL>
                    <a:lnR w="6350" cap="flat" cmpd="sng" algn="ctr">
                      <a:solidFill>
                        <a:srgbClr val="2A3A4A"/>
                      </a:solidFill>
                      <a:prstDash val="solid"/>
                      <a:round/>
                      <a:headEnd type="none" w="med" len="med"/>
                      <a:tailEnd type="none" w="med" len="med"/>
                    </a:lnR>
                    <a:lnT w="6350" cap="flat" cmpd="sng" algn="ctr">
                      <a:solidFill>
                        <a:srgbClr val="2A3A4A"/>
                      </a:solidFill>
                      <a:prstDash val="solid"/>
                      <a:round/>
                      <a:headEnd type="none" w="med" len="med"/>
                      <a:tailEnd type="none" w="med" len="med"/>
                    </a:lnT>
                    <a:lnB w="6350" cap="flat" cmpd="sng" algn="ctr">
                      <a:solidFill>
                        <a:srgbClr val="2A3A4A"/>
                      </a:solidFill>
                      <a:prstDash val="solid"/>
                      <a:round/>
                      <a:headEnd type="none" w="med" len="med"/>
                      <a:tailEnd type="none" w="med" len="med"/>
                    </a:lnB>
                    <a:solidFill>
                      <a:srgbClr val="005B6B"/>
                    </a:solidFill>
                  </a:tcPr>
                </a:tc>
                <a:tc>
                  <a:txBody>
                    <a:bodyPr/>
                    <a:lstStyle/>
                    <a:p>
                      <a:pPr indent="0" marL="0">
                        <a:buNone/>
                      </a:pPr>
                      <a:r>
                        <a:rPr lang="en-US" sz="900" dirty="0">
                          <a:solidFill>
                            <a:srgbClr val="E9F3F3"/>
                          </a:solidFill>
                          <a:latin typeface="Jura" pitchFamily="34" charset="0"/>
                          <a:ea typeface="Jura" pitchFamily="34" charset="-122"/>
                          <a:cs typeface="Jura" pitchFamily="34" charset="-120"/>
                        </a:rPr>
                        <a:t>→</a:t>
                      </a:r>
                      <a:endParaRPr lang="en-US" sz="900" dirty="0">
                        <a:latin typeface="Jura" charset="0"/>
                        <a:ea typeface="Jura" charset="0"/>
                        <a:cs typeface="Jura" charset="0"/>
                      </a:endParaRPr>
                    </a:p>
                  </a:txBody>
                  <a:tcPr marL="91440" marR="91440" marT="45720" marB="45720">
                    <a:lnL w="6350" cap="flat" cmpd="sng" algn="ctr">
                      <a:solidFill>
                        <a:srgbClr val="2A3A4A"/>
                      </a:solidFill>
                      <a:prstDash val="solid"/>
                      <a:round/>
                      <a:headEnd type="none" w="med" len="med"/>
                      <a:tailEnd type="none" w="med" len="med"/>
                    </a:lnL>
                    <a:lnR w="6350" cap="flat" cmpd="sng" algn="ctr">
                      <a:solidFill>
                        <a:srgbClr val="2A3A4A"/>
                      </a:solidFill>
                      <a:prstDash val="solid"/>
                      <a:round/>
                      <a:headEnd type="none" w="med" len="med"/>
                      <a:tailEnd type="none" w="med" len="med"/>
                    </a:lnR>
                    <a:lnT w="6350" cap="flat" cmpd="sng" algn="ctr">
                      <a:solidFill>
                        <a:srgbClr val="2A3A4A"/>
                      </a:solidFill>
                      <a:prstDash val="solid"/>
                      <a:round/>
                      <a:headEnd type="none" w="med" len="med"/>
                      <a:tailEnd type="none" w="med" len="med"/>
                    </a:lnT>
                    <a:lnB w="6350" cap="flat" cmpd="sng" algn="ctr">
                      <a:solidFill>
                        <a:srgbClr val="2A3A4A"/>
                      </a:solidFill>
                      <a:prstDash val="solid"/>
                      <a:round/>
                      <a:headEnd type="none" w="med" len="med"/>
                      <a:tailEnd type="none" w="med" len="med"/>
                    </a:lnB>
                    <a:solidFill>
                      <a:srgbClr val="005B6B"/>
                    </a:solidFill>
                  </a:tcPr>
                </a:tc>
                <a:tc>
                  <a:txBody>
                    <a:bodyPr/>
                    <a:lstStyle/>
                    <a:p>
                      <a:pPr indent="0" marL="0">
                        <a:buNone/>
                      </a:pPr>
                      <a:r>
                        <a:rPr lang="en-US" sz="900" dirty="0">
                          <a:solidFill>
                            <a:srgbClr val="E9F3F3"/>
                          </a:solidFill>
                          <a:latin typeface="Jura" pitchFamily="34" charset="0"/>
                          <a:ea typeface="Jura" pitchFamily="34" charset="-122"/>
                          <a:cs typeface="Jura" pitchFamily="34" charset="-120"/>
                        </a:rPr>
                        <a:t>P0 Story (mandatory)</a:t>
                      </a:r>
                      <a:endParaRPr lang="en-US" sz="900" dirty="0">
                        <a:latin typeface="Jura" charset="0"/>
                        <a:ea typeface="Jura" charset="0"/>
                        <a:cs typeface="Jura" charset="0"/>
                      </a:endParaRPr>
                    </a:p>
                  </a:txBody>
                  <a:tcPr marL="91440" marR="91440" marT="45720" marB="45720">
                    <a:lnL w="6350" cap="flat" cmpd="sng" algn="ctr">
                      <a:solidFill>
                        <a:srgbClr val="2A3A4A"/>
                      </a:solidFill>
                      <a:prstDash val="solid"/>
                      <a:round/>
                      <a:headEnd type="none" w="med" len="med"/>
                      <a:tailEnd type="none" w="med" len="med"/>
                    </a:lnL>
                    <a:lnR w="6350" cap="flat" cmpd="sng" algn="ctr">
                      <a:solidFill>
                        <a:srgbClr val="2A3A4A"/>
                      </a:solidFill>
                      <a:prstDash val="solid"/>
                      <a:round/>
                      <a:headEnd type="none" w="med" len="med"/>
                      <a:tailEnd type="none" w="med" len="med"/>
                    </a:lnR>
                    <a:lnT w="6350" cap="flat" cmpd="sng" algn="ctr">
                      <a:solidFill>
                        <a:srgbClr val="2A3A4A"/>
                      </a:solidFill>
                      <a:prstDash val="solid"/>
                      <a:round/>
                      <a:headEnd type="none" w="med" len="med"/>
                      <a:tailEnd type="none" w="med" len="med"/>
                    </a:lnT>
                    <a:lnB w="6350" cap="flat" cmpd="sng" algn="ctr">
                      <a:solidFill>
                        <a:srgbClr val="2A3A4A"/>
                      </a:solidFill>
                      <a:prstDash val="solid"/>
                      <a:round/>
                      <a:headEnd type="none" w="med" len="med"/>
                      <a:tailEnd type="none" w="med" len="med"/>
                    </a:lnB>
                    <a:solidFill>
                      <a:srgbClr val="005B6B"/>
                    </a:solidFill>
                  </a:tcPr>
                </a:tc>
                <a:tc>
                  <a:txBody>
                    <a:bodyPr/>
                    <a:lstStyle/>
                    <a:p>
                      <a:pPr indent="0" marL="0">
                        <a:buNone/>
                      </a:pPr>
                      <a:r>
                        <a:rPr lang="en-US" sz="900" dirty="0">
                          <a:solidFill>
                            <a:srgbClr val="E9F3F3"/>
                          </a:solidFill>
                          <a:latin typeface="Jura" pitchFamily="34" charset="0"/>
                          <a:ea typeface="Jura" pitchFamily="34" charset="-122"/>
                          <a:cs typeface="Jura" pitchFamily="34" charset="-120"/>
                        </a:rPr>
                        <a:t>Priority preserved</a:t>
                      </a:r>
                      <a:endParaRPr lang="en-US" sz="900" dirty="0">
                        <a:latin typeface="Jura" charset="0"/>
                        <a:ea typeface="Jura" charset="0"/>
                        <a:cs typeface="Jura" charset="0"/>
                      </a:endParaRPr>
                    </a:p>
                  </a:txBody>
                  <a:tcPr marL="91440" marR="91440" marT="45720" marB="45720">
                    <a:lnL w="6350" cap="flat" cmpd="sng" algn="ctr">
                      <a:solidFill>
                        <a:srgbClr val="2A3A4A"/>
                      </a:solidFill>
                      <a:prstDash val="solid"/>
                      <a:round/>
                      <a:headEnd type="none" w="med" len="med"/>
                      <a:tailEnd type="none" w="med" len="med"/>
                    </a:lnL>
                    <a:lnR w="6350" cap="flat" cmpd="sng" algn="ctr">
                      <a:solidFill>
                        <a:srgbClr val="2A3A4A"/>
                      </a:solidFill>
                      <a:prstDash val="solid"/>
                      <a:round/>
                      <a:headEnd type="none" w="med" len="med"/>
                      <a:tailEnd type="none" w="med" len="med"/>
                    </a:lnR>
                    <a:lnT w="6350" cap="flat" cmpd="sng" algn="ctr">
                      <a:solidFill>
                        <a:srgbClr val="2A3A4A"/>
                      </a:solidFill>
                      <a:prstDash val="solid"/>
                      <a:round/>
                      <a:headEnd type="none" w="med" len="med"/>
                      <a:tailEnd type="none" w="med" len="med"/>
                    </a:lnT>
                    <a:lnB w="6350" cap="flat" cmpd="sng" algn="ctr">
                      <a:solidFill>
                        <a:srgbClr val="2A3A4A"/>
                      </a:solidFill>
                      <a:prstDash val="solid"/>
                      <a:round/>
                      <a:headEnd type="none" w="med" len="med"/>
                      <a:tailEnd type="none" w="med" len="med"/>
                    </a:lnB>
                    <a:solidFill>
                      <a:srgbClr val="005B6B"/>
                    </a:solidFill>
                  </a:tcPr>
                </a:tc>
              </a:tr>
              <a:tr h="274320">
                <a:tc>
                  <a:txBody>
                    <a:bodyPr/>
                    <a:lstStyle/>
                    <a:p>
                      <a:pPr indent="0" marL="0">
                        <a:buNone/>
                      </a:pPr>
                      <a:r>
                        <a:rPr lang="en-US" sz="900" dirty="0">
                          <a:solidFill>
                            <a:srgbClr val="E9F3F3"/>
                          </a:solidFill>
                          <a:latin typeface="Jura" pitchFamily="34" charset="0"/>
                          <a:ea typeface="Jura" pitchFamily="34" charset="-122"/>
                          <a:cs typeface="Jura" pitchFamily="34" charset="-120"/>
                        </a:rPr>
                        <a:t>Kano Excitement Feature</a:t>
                      </a:r>
                      <a:endParaRPr lang="en-US" sz="900" dirty="0">
                        <a:latin typeface="Jura" charset="0"/>
                        <a:ea typeface="Jura" charset="0"/>
                        <a:cs typeface="Jura" charset="0"/>
                      </a:endParaRPr>
                    </a:p>
                  </a:txBody>
                  <a:tcPr marL="91440" marR="91440" marT="45720" marB="45720">
                    <a:lnL w="6350" cap="flat" cmpd="sng" algn="ctr">
                      <a:solidFill>
                        <a:srgbClr val="2A3A4A"/>
                      </a:solidFill>
                      <a:prstDash val="solid"/>
                      <a:round/>
                      <a:headEnd type="none" w="med" len="med"/>
                      <a:tailEnd type="none" w="med" len="med"/>
                    </a:lnL>
                    <a:lnR w="6350" cap="flat" cmpd="sng" algn="ctr">
                      <a:solidFill>
                        <a:srgbClr val="2A3A4A"/>
                      </a:solidFill>
                      <a:prstDash val="solid"/>
                      <a:round/>
                      <a:headEnd type="none" w="med" len="med"/>
                      <a:tailEnd type="none" w="med" len="med"/>
                    </a:lnR>
                    <a:lnT w="6350" cap="flat" cmpd="sng" algn="ctr">
                      <a:solidFill>
                        <a:srgbClr val="2A3A4A"/>
                      </a:solidFill>
                      <a:prstDash val="solid"/>
                      <a:round/>
                      <a:headEnd type="none" w="med" len="med"/>
                      <a:tailEnd type="none" w="med" len="med"/>
                    </a:lnT>
                    <a:lnB w="6350" cap="flat" cmpd="sng" algn="ctr">
                      <a:solidFill>
                        <a:srgbClr val="2A3A4A"/>
                      </a:solidFill>
                      <a:prstDash val="solid"/>
                      <a:round/>
                      <a:headEnd type="none" w="med" len="med"/>
                      <a:tailEnd type="none" w="med" len="med"/>
                    </a:lnB>
                    <a:solidFill>
                      <a:srgbClr val="005B6B"/>
                    </a:solidFill>
                  </a:tcPr>
                </a:tc>
                <a:tc>
                  <a:txBody>
                    <a:bodyPr/>
                    <a:lstStyle/>
                    <a:p>
                      <a:pPr indent="0" marL="0">
                        <a:buNone/>
                      </a:pPr>
                      <a:r>
                        <a:rPr lang="en-US" sz="900" dirty="0">
                          <a:solidFill>
                            <a:srgbClr val="E9F3F3"/>
                          </a:solidFill>
                          <a:latin typeface="Jura" pitchFamily="34" charset="0"/>
                          <a:ea typeface="Jura" pitchFamily="34" charset="-122"/>
                          <a:cs typeface="Jura" pitchFamily="34" charset="-120"/>
                        </a:rPr>
                        <a:t>→</a:t>
                      </a:r>
                      <a:endParaRPr lang="en-US" sz="900" dirty="0">
                        <a:latin typeface="Jura" charset="0"/>
                        <a:ea typeface="Jura" charset="0"/>
                        <a:cs typeface="Jura" charset="0"/>
                      </a:endParaRPr>
                    </a:p>
                  </a:txBody>
                  <a:tcPr marL="91440" marR="91440" marT="45720" marB="45720">
                    <a:lnL w="6350" cap="flat" cmpd="sng" algn="ctr">
                      <a:solidFill>
                        <a:srgbClr val="2A3A4A"/>
                      </a:solidFill>
                      <a:prstDash val="solid"/>
                      <a:round/>
                      <a:headEnd type="none" w="med" len="med"/>
                      <a:tailEnd type="none" w="med" len="med"/>
                    </a:lnL>
                    <a:lnR w="6350" cap="flat" cmpd="sng" algn="ctr">
                      <a:solidFill>
                        <a:srgbClr val="2A3A4A"/>
                      </a:solidFill>
                      <a:prstDash val="solid"/>
                      <a:round/>
                      <a:headEnd type="none" w="med" len="med"/>
                      <a:tailEnd type="none" w="med" len="med"/>
                    </a:lnR>
                    <a:lnT w="6350" cap="flat" cmpd="sng" algn="ctr">
                      <a:solidFill>
                        <a:srgbClr val="2A3A4A"/>
                      </a:solidFill>
                      <a:prstDash val="solid"/>
                      <a:round/>
                      <a:headEnd type="none" w="med" len="med"/>
                      <a:tailEnd type="none" w="med" len="med"/>
                    </a:lnT>
                    <a:lnB w="6350" cap="flat" cmpd="sng" algn="ctr">
                      <a:solidFill>
                        <a:srgbClr val="2A3A4A"/>
                      </a:solidFill>
                      <a:prstDash val="solid"/>
                      <a:round/>
                      <a:headEnd type="none" w="med" len="med"/>
                      <a:tailEnd type="none" w="med" len="med"/>
                    </a:lnB>
                    <a:solidFill>
                      <a:srgbClr val="005B6B"/>
                    </a:solidFill>
                  </a:tcPr>
                </a:tc>
                <a:tc>
                  <a:txBody>
                    <a:bodyPr/>
                    <a:lstStyle/>
                    <a:p>
                      <a:pPr indent="0" marL="0">
                        <a:buNone/>
                      </a:pPr>
                      <a:r>
                        <a:rPr lang="en-US" sz="900" dirty="0">
                          <a:solidFill>
                            <a:srgbClr val="E9F3F3"/>
                          </a:solidFill>
                          <a:latin typeface="Jura" pitchFamily="34" charset="0"/>
                          <a:ea typeface="Jura" pitchFamily="34" charset="-122"/>
                          <a:cs typeface="Jura" pitchFamily="34" charset="-120"/>
                        </a:rPr>
                        <a:t>P2 Story (differentiator)</a:t>
                      </a:r>
                      <a:endParaRPr lang="en-US" sz="900" dirty="0">
                        <a:latin typeface="Jura" charset="0"/>
                        <a:ea typeface="Jura" charset="0"/>
                        <a:cs typeface="Jura" charset="0"/>
                      </a:endParaRPr>
                    </a:p>
                  </a:txBody>
                  <a:tcPr marL="91440" marR="91440" marT="45720" marB="45720">
                    <a:lnL w="6350" cap="flat" cmpd="sng" algn="ctr">
                      <a:solidFill>
                        <a:srgbClr val="2A3A4A"/>
                      </a:solidFill>
                      <a:prstDash val="solid"/>
                      <a:round/>
                      <a:headEnd type="none" w="med" len="med"/>
                      <a:tailEnd type="none" w="med" len="med"/>
                    </a:lnL>
                    <a:lnR w="6350" cap="flat" cmpd="sng" algn="ctr">
                      <a:solidFill>
                        <a:srgbClr val="2A3A4A"/>
                      </a:solidFill>
                      <a:prstDash val="solid"/>
                      <a:round/>
                      <a:headEnd type="none" w="med" len="med"/>
                      <a:tailEnd type="none" w="med" len="med"/>
                    </a:lnR>
                    <a:lnT w="6350" cap="flat" cmpd="sng" algn="ctr">
                      <a:solidFill>
                        <a:srgbClr val="2A3A4A"/>
                      </a:solidFill>
                      <a:prstDash val="solid"/>
                      <a:round/>
                      <a:headEnd type="none" w="med" len="med"/>
                      <a:tailEnd type="none" w="med" len="med"/>
                    </a:lnT>
                    <a:lnB w="6350" cap="flat" cmpd="sng" algn="ctr">
                      <a:solidFill>
                        <a:srgbClr val="2A3A4A"/>
                      </a:solidFill>
                      <a:prstDash val="solid"/>
                      <a:round/>
                      <a:headEnd type="none" w="med" len="med"/>
                      <a:tailEnd type="none" w="med" len="med"/>
                    </a:lnB>
                    <a:solidFill>
                      <a:srgbClr val="005B6B"/>
                    </a:solidFill>
                  </a:tcPr>
                </a:tc>
                <a:tc>
                  <a:txBody>
                    <a:bodyPr/>
                    <a:lstStyle/>
                    <a:p>
                      <a:pPr indent="0" marL="0">
                        <a:buNone/>
                      </a:pPr>
                      <a:r>
                        <a:rPr lang="en-US" sz="900" dirty="0">
                          <a:solidFill>
                            <a:srgbClr val="E9F3F3"/>
                          </a:solidFill>
                          <a:latin typeface="Jura" pitchFamily="34" charset="0"/>
                          <a:ea typeface="Jura" pitchFamily="34" charset="-122"/>
                          <a:cs typeface="Jura" pitchFamily="34" charset="-120"/>
                        </a:rPr>
                        <a:t>Priority preserved</a:t>
                      </a:r>
                      <a:endParaRPr lang="en-US" sz="900" dirty="0">
                        <a:latin typeface="Jura" charset="0"/>
                        <a:ea typeface="Jura" charset="0"/>
                        <a:cs typeface="Jura" charset="0"/>
                      </a:endParaRPr>
                    </a:p>
                  </a:txBody>
                  <a:tcPr marL="91440" marR="91440" marT="45720" marB="45720">
                    <a:lnL w="6350" cap="flat" cmpd="sng" algn="ctr">
                      <a:solidFill>
                        <a:srgbClr val="2A3A4A"/>
                      </a:solidFill>
                      <a:prstDash val="solid"/>
                      <a:round/>
                      <a:headEnd type="none" w="med" len="med"/>
                      <a:tailEnd type="none" w="med" len="med"/>
                    </a:lnL>
                    <a:lnR w="6350" cap="flat" cmpd="sng" algn="ctr">
                      <a:solidFill>
                        <a:srgbClr val="2A3A4A"/>
                      </a:solidFill>
                      <a:prstDash val="solid"/>
                      <a:round/>
                      <a:headEnd type="none" w="med" len="med"/>
                      <a:tailEnd type="none" w="med" len="med"/>
                    </a:lnR>
                    <a:lnT w="6350" cap="flat" cmpd="sng" algn="ctr">
                      <a:solidFill>
                        <a:srgbClr val="2A3A4A"/>
                      </a:solidFill>
                      <a:prstDash val="solid"/>
                      <a:round/>
                      <a:headEnd type="none" w="med" len="med"/>
                      <a:tailEnd type="none" w="med" len="med"/>
                    </a:lnT>
                    <a:lnB w="6350" cap="flat" cmpd="sng" algn="ctr">
                      <a:solidFill>
                        <a:srgbClr val="2A3A4A"/>
                      </a:solidFill>
                      <a:prstDash val="solid"/>
                      <a:round/>
                      <a:headEnd type="none" w="med" len="med"/>
                      <a:tailEnd type="none" w="med" len="med"/>
                    </a:lnB>
                    <a:solidFill>
                      <a:srgbClr val="005B6B"/>
                    </a:solidFill>
                  </a:tcPr>
                </a:tc>
              </a:tr>
              <a:tr h="274320">
                <a:tc>
                  <a:txBody>
                    <a:bodyPr/>
                    <a:lstStyle/>
                    <a:p>
                      <a:pPr indent="0" marL="0">
                        <a:buNone/>
                      </a:pPr>
                      <a:r>
                        <a:rPr lang="en-US" sz="900" dirty="0">
                          <a:solidFill>
                            <a:srgbClr val="E9F3F3"/>
                          </a:solidFill>
                          <a:latin typeface="Jura" pitchFamily="34" charset="0"/>
                          <a:ea typeface="Jura" pitchFamily="34" charset="-122"/>
                          <a:cs typeface="Jura" pitchFamily="34" charset="-120"/>
                        </a:rPr>
                        <a:t>PMF Launch Readiness</a:t>
                      </a:r>
                      <a:endParaRPr lang="en-US" sz="900" dirty="0">
                        <a:latin typeface="Jura" charset="0"/>
                        <a:ea typeface="Jura" charset="0"/>
                        <a:cs typeface="Jura" charset="0"/>
                      </a:endParaRPr>
                    </a:p>
                  </a:txBody>
                  <a:tcPr marL="91440" marR="91440" marT="45720" marB="45720">
                    <a:lnL w="6350" cap="flat" cmpd="sng" algn="ctr">
                      <a:solidFill>
                        <a:srgbClr val="2A3A4A"/>
                      </a:solidFill>
                      <a:prstDash val="solid"/>
                      <a:round/>
                      <a:headEnd type="none" w="med" len="med"/>
                      <a:tailEnd type="none" w="med" len="med"/>
                    </a:lnL>
                    <a:lnR w="6350" cap="flat" cmpd="sng" algn="ctr">
                      <a:solidFill>
                        <a:srgbClr val="2A3A4A"/>
                      </a:solidFill>
                      <a:prstDash val="solid"/>
                      <a:round/>
                      <a:headEnd type="none" w="med" len="med"/>
                      <a:tailEnd type="none" w="med" len="med"/>
                    </a:lnR>
                    <a:lnT w="6350" cap="flat" cmpd="sng" algn="ctr">
                      <a:solidFill>
                        <a:srgbClr val="2A3A4A"/>
                      </a:solidFill>
                      <a:prstDash val="solid"/>
                      <a:round/>
                      <a:headEnd type="none" w="med" len="med"/>
                      <a:tailEnd type="none" w="med" len="med"/>
                    </a:lnT>
                    <a:lnB w="6350" cap="flat" cmpd="sng" algn="ctr">
                      <a:solidFill>
                        <a:srgbClr val="2A3A4A"/>
                      </a:solidFill>
                      <a:prstDash val="solid"/>
                      <a:round/>
                      <a:headEnd type="none" w="med" len="med"/>
                      <a:tailEnd type="none" w="med" len="med"/>
                    </a:lnB>
                    <a:solidFill>
                      <a:srgbClr val="005B6B"/>
                    </a:solidFill>
                  </a:tcPr>
                </a:tc>
                <a:tc>
                  <a:txBody>
                    <a:bodyPr/>
                    <a:lstStyle/>
                    <a:p>
                      <a:pPr indent="0" marL="0">
                        <a:buNone/>
                      </a:pPr>
                      <a:r>
                        <a:rPr lang="en-US" sz="900" dirty="0">
                          <a:solidFill>
                            <a:srgbClr val="E9F3F3"/>
                          </a:solidFill>
                          <a:latin typeface="Jura" pitchFamily="34" charset="0"/>
                          <a:ea typeface="Jura" pitchFamily="34" charset="-122"/>
                          <a:cs typeface="Jura" pitchFamily="34" charset="-120"/>
                        </a:rPr>
                        <a:t>→</a:t>
                      </a:r>
                      <a:endParaRPr lang="en-US" sz="900" dirty="0">
                        <a:latin typeface="Jura" charset="0"/>
                        <a:ea typeface="Jura" charset="0"/>
                        <a:cs typeface="Jura" charset="0"/>
                      </a:endParaRPr>
                    </a:p>
                  </a:txBody>
                  <a:tcPr marL="91440" marR="91440" marT="45720" marB="45720">
                    <a:lnL w="6350" cap="flat" cmpd="sng" algn="ctr">
                      <a:solidFill>
                        <a:srgbClr val="2A3A4A"/>
                      </a:solidFill>
                      <a:prstDash val="solid"/>
                      <a:round/>
                      <a:headEnd type="none" w="med" len="med"/>
                      <a:tailEnd type="none" w="med" len="med"/>
                    </a:lnL>
                    <a:lnR w="6350" cap="flat" cmpd="sng" algn="ctr">
                      <a:solidFill>
                        <a:srgbClr val="2A3A4A"/>
                      </a:solidFill>
                      <a:prstDash val="solid"/>
                      <a:round/>
                      <a:headEnd type="none" w="med" len="med"/>
                      <a:tailEnd type="none" w="med" len="med"/>
                    </a:lnR>
                    <a:lnT w="6350" cap="flat" cmpd="sng" algn="ctr">
                      <a:solidFill>
                        <a:srgbClr val="2A3A4A"/>
                      </a:solidFill>
                      <a:prstDash val="solid"/>
                      <a:round/>
                      <a:headEnd type="none" w="med" len="med"/>
                      <a:tailEnd type="none" w="med" len="med"/>
                    </a:lnT>
                    <a:lnB w="6350" cap="flat" cmpd="sng" algn="ctr">
                      <a:solidFill>
                        <a:srgbClr val="2A3A4A"/>
                      </a:solidFill>
                      <a:prstDash val="solid"/>
                      <a:round/>
                      <a:headEnd type="none" w="med" len="med"/>
                      <a:tailEnd type="none" w="med" len="med"/>
                    </a:lnB>
                    <a:solidFill>
                      <a:srgbClr val="005B6B"/>
                    </a:solidFill>
                  </a:tcPr>
                </a:tc>
                <a:tc>
                  <a:txBody>
                    <a:bodyPr/>
                    <a:lstStyle/>
                    <a:p>
                      <a:pPr indent="0" marL="0">
                        <a:buNone/>
                      </a:pPr>
                      <a:r>
                        <a:rPr lang="en-US" sz="900" dirty="0">
                          <a:solidFill>
                            <a:srgbClr val="E9F3F3"/>
                          </a:solidFill>
                          <a:latin typeface="Jura" pitchFamily="34" charset="0"/>
                          <a:ea typeface="Jura" pitchFamily="34" charset="-122"/>
                          <a:cs typeface="Jura" pitchFamily="34" charset="-120"/>
                        </a:rPr>
                        <a:t>Release Gate Criteria</a:t>
                      </a:r>
                      <a:endParaRPr lang="en-US" sz="900" dirty="0">
                        <a:latin typeface="Jura" charset="0"/>
                        <a:ea typeface="Jura" charset="0"/>
                        <a:cs typeface="Jura" charset="0"/>
                      </a:endParaRPr>
                    </a:p>
                  </a:txBody>
                  <a:tcPr marL="91440" marR="91440" marT="45720" marB="45720">
                    <a:lnL w="6350" cap="flat" cmpd="sng" algn="ctr">
                      <a:solidFill>
                        <a:srgbClr val="2A3A4A"/>
                      </a:solidFill>
                      <a:prstDash val="solid"/>
                      <a:round/>
                      <a:headEnd type="none" w="med" len="med"/>
                      <a:tailEnd type="none" w="med" len="med"/>
                    </a:lnL>
                    <a:lnR w="6350" cap="flat" cmpd="sng" algn="ctr">
                      <a:solidFill>
                        <a:srgbClr val="2A3A4A"/>
                      </a:solidFill>
                      <a:prstDash val="solid"/>
                      <a:round/>
                      <a:headEnd type="none" w="med" len="med"/>
                      <a:tailEnd type="none" w="med" len="med"/>
                    </a:lnR>
                    <a:lnT w="6350" cap="flat" cmpd="sng" algn="ctr">
                      <a:solidFill>
                        <a:srgbClr val="2A3A4A"/>
                      </a:solidFill>
                      <a:prstDash val="solid"/>
                      <a:round/>
                      <a:headEnd type="none" w="med" len="med"/>
                      <a:tailEnd type="none" w="med" len="med"/>
                    </a:lnT>
                    <a:lnB w="6350" cap="flat" cmpd="sng" algn="ctr">
                      <a:solidFill>
                        <a:srgbClr val="2A3A4A"/>
                      </a:solidFill>
                      <a:prstDash val="solid"/>
                      <a:round/>
                      <a:headEnd type="none" w="med" len="med"/>
                      <a:tailEnd type="none" w="med" len="med"/>
                    </a:lnB>
                    <a:solidFill>
                      <a:srgbClr val="005B6B"/>
                    </a:solidFill>
                  </a:tcPr>
                </a:tc>
                <a:tc>
                  <a:txBody>
                    <a:bodyPr/>
                    <a:lstStyle/>
                    <a:p>
                      <a:pPr indent="0" marL="0">
                        <a:buNone/>
                      </a:pPr>
                      <a:r>
                        <a:rPr lang="en-US" sz="900" dirty="0">
                          <a:solidFill>
                            <a:srgbClr val="E9F3F3"/>
                          </a:solidFill>
                          <a:latin typeface="Jura" pitchFamily="34" charset="0"/>
                          <a:ea typeface="Jura" pitchFamily="34" charset="-122"/>
                          <a:cs typeface="Jura" pitchFamily="34" charset="-120"/>
                        </a:rPr>
                        <a:t>Market validation preserved</a:t>
                      </a:r>
                      <a:endParaRPr lang="en-US" sz="900" dirty="0">
                        <a:latin typeface="Jura" charset="0"/>
                        <a:ea typeface="Jura" charset="0"/>
                        <a:cs typeface="Jura" charset="0"/>
                      </a:endParaRPr>
                    </a:p>
                  </a:txBody>
                  <a:tcPr marL="91440" marR="91440" marT="45720" marB="45720">
                    <a:lnL w="6350" cap="flat" cmpd="sng" algn="ctr">
                      <a:solidFill>
                        <a:srgbClr val="2A3A4A"/>
                      </a:solidFill>
                      <a:prstDash val="solid"/>
                      <a:round/>
                      <a:headEnd type="none" w="med" len="med"/>
                      <a:tailEnd type="none" w="med" len="med"/>
                    </a:lnL>
                    <a:lnR w="6350" cap="flat" cmpd="sng" algn="ctr">
                      <a:solidFill>
                        <a:srgbClr val="2A3A4A"/>
                      </a:solidFill>
                      <a:prstDash val="solid"/>
                      <a:round/>
                      <a:headEnd type="none" w="med" len="med"/>
                      <a:tailEnd type="none" w="med" len="med"/>
                    </a:lnR>
                    <a:lnT w="6350" cap="flat" cmpd="sng" algn="ctr">
                      <a:solidFill>
                        <a:srgbClr val="2A3A4A"/>
                      </a:solidFill>
                      <a:prstDash val="solid"/>
                      <a:round/>
                      <a:headEnd type="none" w="med" len="med"/>
                      <a:tailEnd type="none" w="med" len="med"/>
                    </a:lnT>
                    <a:lnB w="6350" cap="flat" cmpd="sng" algn="ctr">
                      <a:solidFill>
                        <a:srgbClr val="2A3A4A"/>
                      </a:solidFill>
                      <a:prstDash val="solid"/>
                      <a:round/>
                      <a:headEnd type="none" w="med" len="med"/>
                      <a:tailEnd type="none" w="med" len="med"/>
                    </a:lnB>
                    <a:solidFill>
                      <a:srgbClr val="005B6B"/>
                    </a:solidFill>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05B6B"/>
        </a:solidFill>
      </p:bgPr>
    </p:bg>
    <p:spTree>
      <p:nvGrpSpPr>
        <p:cNvPr id="1" name=""/>
        <p:cNvGrpSpPr/>
        <p:nvPr/>
      </p:nvGrpSpPr>
      <p:grpSpPr>
        <a:xfrm>
          <a:off x="0" y="0"/>
          <a:ext cx="0" cy="0"/>
          <a:chOff x="0" y="0"/>
          <a:chExt cx="0" cy="0"/>
        </a:xfrm>
      </p:grpSpPr>
      <p:sp>
        <p:nvSpPr>
          <p:cNvPr id="2" name="Text 0"/>
          <p:cNvSpPr/>
          <p:nvPr/>
        </p:nvSpPr>
        <p:spPr>
          <a:xfrm>
            <a:off x="731520" y="1645920"/>
            <a:ext cx="1371600" cy="1371600"/>
          </a:xfrm>
          <a:prstGeom prst="rect">
            <a:avLst/>
          </a:prstGeom>
          <a:noFill/>
          <a:ln/>
        </p:spPr>
        <p:txBody>
          <a:bodyPr wrap="square" rtlCol="0" anchor="ctr"/>
          <a:lstStyle/>
          <a:p>
            <a:pPr indent="0" marL="0">
              <a:buNone/>
            </a:pPr>
            <a:r>
              <a:rPr lang="en-US" sz="4800" b="1" dirty="0">
                <a:solidFill>
                  <a:srgbClr val="00A4BF"/>
                </a:solidFill>
                <a:latin typeface="Jura" pitchFamily="34" charset="0"/>
                <a:ea typeface="Jura" pitchFamily="34" charset="-122"/>
                <a:cs typeface="Jura" pitchFamily="34" charset="-120"/>
              </a:rPr>
              <a:t>05</a:t>
            </a:r>
            <a:endParaRPr lang="en-US" sz="4800" dirty="0"/>
          </a:p>
        </p:txBody>
      </p:sp>
      <p:sp>
        <p:nvSpPr>
          <p:cNvPr id="3" name="Text 1"/>
          <p:cNvSpPr/>
          <p:nvPr/>
        </p:nvSpPr>
        <p:spPr>
          <a:xfrm>
            <a:off x="2286000" y="1645920"/>
            <a:ext cx="5943600" cy="731520"/>
          </a:xfrm>
          <a:prstGeom prst="rect">
            <a:avLst/>
          </a:prstGeom>
          <a:noFill/>
          <a:ln/>
        </p:spPr>
        <p:txBody>
          <a:bodyPr wrap="square" rtlCol="0" anchor="ctr"/>
          <a:lstStyle/>
          <a:p>
            <a:pPr indent="0" marL="0">
              <a:buNone/>
            </a:pPr>
            <a:r>
              <a:rPr lang="en-US" sz="2800" b="1" dirty="0">
                <a:solidFill>
                  <a:srgbClr val="E9F3F3"/>
                </a:solidFill>
                <a:latin typeface="Jura" pitchFamily="34" charset="0"/>
                <a:ea typeface="Jura" pitchFamily="34" charset="-122"/>
                <a:cs typeface="Jura" pitchFamily="34" charset="-120"/>
              </a:rPr>
              <a:t>Programme to PoC</a:t>
            </a:r>
            <a:endParaRPr lang="en-US" sz="2800" dirty="0"/>
          </a:p>
        </p:txBody>
      </p:sp>
      <p:sp>
        <p:nvSpPr>
          <p:cNvPr id="4" name="Text 2"/>
          <p:cNvSpPr/>
          <p:nvPr/>
        </p:nvSpPr>
        <p:spPr>
          <a:xfrm>
            <a:off x="2286000" y="2468880"/>
            <a:ext cx="5943600" cy="548640"/>
          </a:xfrm>
          <a:prstGeom prst="rect">
            <a:avLst/>
          </a:prstGeom>
          <a:noFill/>
          <a:ln/>
        </p:spPr>
        <p:txBody>
          <a:bodyPr wrap="square" rtlCol="0" anchor="ctr"/>
          <a:lstStyle/>
          <a:p>
            <a:pPr indent="0" marL="0">
              <a:buNone/>
            </a:pPr>
            <a:r>
              <a:rPr lang="en-US" sz="1400" dirty="0">
                <a:solidFill>
                  <a:srgbClr val="CEC528"/>
                </a:solidFill>
                <a:latin typeface="Jura" pitchFamily="34" charset="0"/>
                <a:ea typeface="Jura" pitchFamily="34" charset="-122"/>
                <a:cs typeface="Jura" pitchFamily="34" charset="-120"/>
              </a:rPr>
              <a:t>The builder phase — from validated brief to working proof</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03D48"/>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005B6B"/>
          </a:solidFill>
          <a:ln/>
        </p:spPr>
      </p:sp>
      <p:sp>
        <p:nvSpPr>
          <p:cNvPr id="3" name="Text 1"/>
          <p:cNvSpPr/>
          <p:nvPr/>
        </p:nvSpPr>
        <p:spPr>
          <a:xfrm>
            <a:off x="457200" y="91440"/>
            <a:ext cx="8229600" cy="548640"/>
          </a:xfrm>
          <a:prstGeom prst="rect">
            <a:avLst/>
          </a:prstGeom>
          <a:noFill/>
          <a:ln/>
        </p:spPr>
        <p:txBody>
          <a:bodyPr wrap="square" rtlCol="0" anchor="ctr"/>
          <a:lstStyle/>
          <a:p>
            <a:pPr indent="0" marL="0">
              <a:buNone/>
            </a:pPr>
            <a:r>
              <a:rPr lang="en-US" sz="1800" b="1" dirty="0">
                <a:solidFill>
                  <a:srgbClr val="00A4BF"/>
                </a:solidFill>
                <a:latin typeface="Jura" pitchFamily="34" charset="0"/>
                <a:ea typeface="Jura" pitchFamily="34" charset="-122"/>
                <a:cs typeface="Jura" pitchFamily="34" charset="-120"/>
              </a:rPr>
              <a:t>The Programme Manager Takes the Baton</a:t>
            </a:r>
            <a:endParaRPr lang="en-US" sz="1800" dirty="0"/>
          </a:p>
        </p:txBody>
      </p:sp>
      <p:sp>
        <p:nvSpPr>
          <p:cNvPr id="4" name="Text 2"/>
          <p:cNvSpPr/>
          <p:nvPr/>
        </p:nvSpPr>
        <p:spPr>
          <a:xfrm>
            <a:off x="457200" y="914400"/>
            <a:ext cx="7772400" cy="3840480"/>
          </a:xfrm>
          <a:prstGeom prst="rect">
            <a:avLst/>
          </a:prstGeom>
          <a:noFill/>
          <a:ln/>
        </p:spPr>
        <p:txBody>
          <a:bodyPr wrap="square" rtlCol="0" anchor="t"/>
          <a:lstStyle/>
          <a:p>
            <a:pPr indent="0" marL="0">
              <a:lnSpc>
                <a:spcPct val="115000"/>
              </a:lnSpc>
              <a:buNone/>
            </a:pPr>
            <a:r>
              <a:rPr lang="en-US" sz="1300" b="1" dirty="0">
                <a:solidFill>
                  <a:srgbClr val="CEC528"/>
                </a:solidFill>
                <a:latin typeface="Jura" pitchFamily="34" charset="0"/>
                <a:ea typeface="Jura" pitchFamily="34" charset="-122"/>
                <a:cs typeface="Jura" pitchFamily="34" charset="-120"/>
              </a:rPr>
              <a:t>Phase 1: PRD Composition (EFS-ONT)</a:t>
            </a:r>
            <a:endParaRPr lang="en-US" sz="1300" dirty="0"/>
          </a:p>
          <a:p>
            <a:pPr marL="342900" indent="-342900">
              <a:lnSpc>
                <a:spcPct val="115000"/>
              </a:lnSpc>
              <a:buSzPct val="100000"/>
              <a:buChar char="•"/>
            </a:pPr>
            <a:r>
              <a:rPr lang="en-US" sz="1100" dirty="0">
                <a:solidFill>
                  <a:srgbClr val="E9F3F3"/>
                </a:solidFill>
                <a:latin typeface="Jura" pitchFamily="34" charset="0"/>
                <a:ea typeface="Jura" pitchFamily="34" charset="-122"/>
                <a:cs typeface="Jura" pitchFamily="34" charset="-120"/>
              </a:rPr>
              <a:t>The Programme Manager/Builder receives the validated product brief and decomposes it using EFS-ONT: Epics → Features → User Stories → Acceptance Criteria. Each decomposition step maintains traceability to the originating VP solution, Kano priority, and KPI target. Nothing is added that cannot be traced back to validated need.</a:t>
            </a:r>
            <a:endParaRPr lang="en-US" sz="1300" dirty="0"/>
          </a:p>
          <a:p>
            <a:pPr marL="342900" indent="-342900">
              <a:lnSpc>
                <a:spcPct val="115000"/>
              </a:lnSpc>
              <a:buSzPct val="100000"/>
              <a:buChar char="•"/>
            </a:pPr>
            <a:endParaRPr lang="en-US" sz="1300" dirty="0"/>
          </a:p>
          <a:p>
            <a:pPr indent="0" marL="0">
              <a:lnSpc>
                <a:spcPct val="115000"/>
              </a:lnSpc>
              <a:buNone/>
            </a:pPr>
            <a:r>
              <a:rPr lang="en-US" sz="1300" b="1" dirty="0">
                <a:solidFill>
                  <a:srgbClr val="CEC528"/>
                </a:solidFill>
                <a:latin typeface="Jura" pitchFamily="34" charset="0"/>
                <a:ea typeface="Jura" pitchFamily="34" charset="-122"/>
                <a:cs typeface="Jura" pitchFamily="34" charset="-120"/>
              </a:rPr>
              <a:t>Phase 2: Programme Planning (PPM-ONT)</a:t>
            </a:r>
            <a:endParaRPr lang="en-US" sz="1300" dirty="0"/>
          </a:p>
          <a:p>
            <a:pPr marL="342900" indent="-342900">
              <a:lnSpc>
                <a:spcPct val="115000"/>
              </a:lnSpc>
              <a:buSzPct val="100000"/>
              <a:buChar char="•"/>
            </a:pPr>
            <a:r>
              <a:rPr lang="en-US" sz="1100" dirty="0">
                <a:solidFill>
                  <a:srgbClr val="E9F3F3"/>
                </a:solidFill>
                <a:latin typeface="Jura" pitchFamily="34" charset="0"/>
                <a:ea typeface="Jura" pitchFamily="34" charset="-122"/>
                <a:cs typeface="Jura" pitchFamily="34" charset="-120"/>
              </a:rPr>
              <a:t>PPM-ONT structures the programme: phases, sprints, dependencies, resource allocation, risk management. The portfolio lens (PORTFOLIO-ONT from VSOM-SA) ensures this programme is positioned correctly against other initiatives — BCG matrix placement, three-horizon alignment, investment justification all carried forward from the VE analysis.</a:t>
            </a:r>
            <a:endParaRPr lang="en-US" sz="1300" dirty="0"/>
          </a:p>
          <a:p>
            <a:pPr marL="342900" indent="-342900">
              <a:lnSpc>
                <a:spcPct val="115000"/>
              </a:lnSpc>
              <a:buSzPct val="100000"/>
              <a:buChar char="•"/>
            </a:pPr>
            <a:endParaRPr lang="en-US" sz="1300" dirty="0"/>
          </a:p>
          <a:p>
            <a:pPr indent="0" marL="0">
              <a:lnSpc>
                <a:spcPct val="115000"/>
              </a:lnSpc>
              <a:buNone/>
            </a:pPr>
            <a:r>
              <a:rPr lang="en-US" sz="1300" b="1" dirty="0">
                <a:solidFill>
                  <a:srgbClr val="CEC528"/>
                </a:solidFill>
                <a:latin typeface="Jura" pitchFamily="34" charset="0"/>
                <a:ea typeface="Jura" pitchFamily="34" charset="-122"/>
                <a:cs typeface="Jura" pitchFamily="34" charset="-120"/>
              </a:rPr>
              <a:t>Phase 3: PoC Execution</a:t>
            </a:r>
            <a:endParaRPr lang="en-US" sz="1300" dirty="0"/>
          </a:p>
          <a:p>
            <a:pPr marL="342900" indent="-342900">
              <a:lnSpc>
                <a:spcPct val="115000"/>
              </a:lnSpc>
              <a:buSzPct val="100000"/>
              <a:buChar char="•"/>
            </a:pPr>
            <a:r>
              <a:rPr lang="en-US" sz="1100" dirty="0">
                <a:solidFill>
                  <a:srgbClr val="E9F3F3"/>
                </a:solidFill>
                <a:latin typeface="Jura" pitchFamily="34" charset="0"/>
                <a:ea typeface="Jura" pitchFamily="34" charset="-122"/>
                <a:cs typeface="Jura" pitchFamily="34" charset="-120"/>
              </a:rPr>
              <a:t>The PoC is not a demo — it is a structured test of the PMF hypothesis. Success criteria come directly from PMF-ONT launch readiness gates. KPI targets from KPI-ONT define what "working" means. The PoC either validates the proposition or generates structured feedback that loops back to the VE chain for iteration. This is not waterfall — it is a validated learning loop.</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03D48"/>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005B6B"/>
          </a:solidFill>
          <a:ln/>
        </p:spPr>
      </p:sp>
      <p:sp>
        <p:nvSpPr>
          <p:cNvPr id="3" name="Text 1"/>
          <p:cNvSpPr/>
          <p:nvPr/>
        </p:nvSpPr>
        <p:spPr>
          <a:xfrm>
            <a:off x="457200" y="91440"/>
            <a:ext cx="8229600" cy="548640"/>
          </a:xfrm>
          <a:prstGeom prst="rect">
            <a:avLst/>
          </a:prstGeom>
          <a:noFill/>
          <a:ln/>
        </p:spPr>
        <p:txBody>
          <a:bodyPr wrap="square" rtlCol="0" anchor="ctr"/>
          <a:lstStyle/>
          <a:p>
            <a:pPr indent="0" marL="0">
              <a:buNone/>
            </a:pPr>
            <a:r>
              <a:rPr lang="en-US" sz="1800" b="1" dirty="0">
                <a:solidFill>
                  <a:srgbClr val="00A4BF"/>
                </a:solidFill>
                <a:latin typeface="Jura" pitchFamily="34" charset="0"/>
                <a:ea typeface="Jura" pitchFamily="34" charset="-122"/>
                <a:cs typeface="Jura" pitchFamily="34" charset="-120"/>
              </a:rPr>
              <a:t>The Complete Journey — Idea to PoC in One Traversable Graph</a:t>
            </a:r>
            <a:endParaRPr lang="en-US" sz="1800" dirty="0"/>
          </a:p>
        </p:txBody>
      </p:sp>
      <p:sp>
        <p:nvSpPr>
          <p:cNvPr id="4" name="Text 2"/>
          <p:cNvSpPr/>
          <p:nvPr/>
        </p:nvSpPr>
        <p:spPr>
          <a:xfrm>
            <a:off x="457200" y="914400"/>
            <a:ext cx="7772400" cy="3840480"/>
          </a:xfrm>
          <a:prstGeom prst="rect">
            <a:avLst/>
          </a:prstGeom>
          <a:noFill/>
          <a:ln/>
        </p:spPr>
        <p:txBody>
          <a:bodyPr wrap="square" rtlCol="0" anchor="t"/>
          <a:lstStyle/>
          <a:p>
            <a:pPr indent="0" marL="0">
              <a:lnSpc>
                <a:spcPct val="115000"/>
              </a:lnSpc>
              <a:buNone/>
            </a:pPr>
            <a:r>
              <a:rPr lang="en-US" sz="1300" b="1" dirty="0">
                <a:solidFill>
                  <a:srgbClr val="CEC528"/>
                </a:solidFill>
                <a:latin typeface="Jura" pitchFamily="34" charset="0"/>
                <a:ea typeface="Jura" pitchFamily="34" charset="-122"/>
                <a:cs typeface="Jura" pitchFamily="34" charset="-120"/>
              </a:rPr>
              <a:t>The Flow</a:t>
            </a:r>
            <a:endParaRPr lang="en-US" sz="1300" dirty="0"/>
          </a:p>
          <a:p>
            <a:pPr marL="342900" indent="-342900">
              <a:lnSpc>
                <a:spcPct val="115000"/>
              </a:lnSpc>
              <a:buSzPct val="100000"/>
              <a:buChar char="•"/>
            </a:pPr>
            <a:r>
              <a:rPr lang="en-US" sz="1100" dirty="0">
                <a:solidFill>
                  <a:srgbClr val="E9F3F3"/>
                </a:solidFill>
                <a:latin typeface="Jura" pitchFamily="34" charset="0"/>
                <a:ea typeface="Jura" pitchFamily="34" charset="-122"/>
                <a:cs typeface="Jura" pitchFamily="34" charset="-120"/>
              </a:rPr>
              <a:t>Vision (VSOM) → Strategy Pillars → Objectives (OKR) → Measurable Results → KPIs (BSC-aligned) → Value Propositions (VP) → Customer Pains &amp; Solutions → Feature Priorities (Kano) → Market Validation (PMF) → Product Brief → PRD (EFS) → Programme Plan (PPM) → PoC Execution → Validation Loop</a:t>
            </a:r>
            <a:endParaRPr lang="en-US" sz="1300" dirty="0"/>
          </a:p>
          <a:p>
            <a:pPr marL="342900" indent="-342900">
              <a:lnSpc>
                <a:spcPct val="115000"/>
              </a:lnSpc>
              <a:buSzPct val="100000"/>
              <a:buChar char="•"/>
            </a:pPr>
            <a:endParaRPr lang="en-US" sz="1300" dirty="0"/>
          </a:p>
          <a:p>
            <a:pPr indent="0" marL="0">
              <a:lnSpc>
                <a:spcPct val="115000"/>
              </a:lnSpc>
              <a:buNone/>
            </a:pPr>
            <a:r>
              <a:rPr lang="en-US" sz="1300" b="1" dirty="0">
                <a:solidFill>
                  <a:srgbClr val="CEC528"/>
                </a:solidFill>
                <a:latin typeface="Jura" pitchFamily="34" charset="0"/>
                <a:ea typeface="Jura" pitchFamily="34" charset="-122"/>
                <a:cs typeface="Jura" pitchFamily="34" charset="-120"/>
              </a:rPr>
              <a:t>What Makes This Different</a:t>
            </a:r>
            <a:endParaRPr lang="en-US" sz="1300" dirty="0"/>
          </a:p>
          <a:p>
            <a:pPr marL="342900" indent="-342900">
              <a:lnSpc>
                <a:spcPct val="115000"/>
              </a:lnSpc>
              <a:buSzPct val="100000"/>
              <a:buChar char="•"/>
            </a:pPr>
            <a:r>
              <a:rPr lang="en-US" sz="1100" dirty="0">
                <a:solidFill>
                  <a:srgbClr val="E9F3F3"/>
                </a:solidFill>
                <a:latin typeface="Jura" pitchFamily="34" charset="0"/>
                <a:ea typeface="Jura" pitchFamily="34" charset="-122"/>
                <a:cs typeface="Jura" pitchFamily="34" charset="-120"/>
              </a:rPr>
              <a:t>Every arrow in that flow is a typed, traversable relationship in a knowledge graph. Not a document reference. Not a hyperlink. Not an implicit assumption. A formal ontological relationship that can be queried, validated, composed, and governed — by humans or by AI agents.</a:t>
            </a:r>
            <a:endParaRPr lang="en-US" sz="1300" dirty="0"/>
          </a:p>
          <a:p>
            <a:pPr marL="342900" indent="-342900">
              <a:lnSpc>
                <a:spcPct val="115000"/>
              </a:lnSpc>
              <a:buSzPct val="100000"/>
              <a:buChar char="•"/>
            </a:pPr>
            <a:endParaRPr lang="en-US" sz="1300" dirty="0"/>
          </a:p>
          <a:p>
            <a:pPr indent="0" marL="0">
              <a:lnSpc>
                <a:spcPct val="115000"/>
              </a:lnSpc>
              <a:buNone/>
            </a:pPr>
            <a:r>
              <a:rPr lang="en-US" sz="1300" b="1" dirty="0">
                <a:solidFill>
                  <a:srgbClr val="CEC528"/>
                </a:solidFill>
                <a:latin typeface="Jura" pitchFamily="34" charset="0"/>
                <a:ea typeface="Jura" pitchFamily="34" charset="-122"/>
                <a:cs typeface="Jura" pitchFamily="34" charset="-120"/>
              </a:rPr>
              <a:t>The Implication for Agentic AI</a:t>
            </a:r>
            <a:endParaRPr lang="en-US" sz="1300" dirty="0"/>
          </a:p>
          <a:p>
            <a:pPr marL="342900" indent="-342900">
              <a:lnSpc>
                <a:spcPct val="115000"/>
              </a:lnSpc>
              <a:buSzPct val="100000"/>
              <a:buChar char="•"/>
            </a:pPr>
            <a:r>
              <a:rPr lang="en-US" sz="1100" dirty="0">
                <a:solidFill>
                  <a:srgbClr val="E9F3F3"/>
                </a:solidFill>
                <a:latin typeface="Jura" pitchFamily="34" charset="0"/>
                <a:ea typeface="Jura" pitchFamily="34" charset="-122"/>
                <a:cs typeface="Jura" pitchFamily="34" charset="-120"/>
              </a:rPr>
              <a:t>An AI agent with access to this graph can generate a strategy deck, compose a PRD, recommend feature priorities, assess market fit, and produce a programme plan — all grounded in the same connected knowledge. The VE skill chain is not just a methodology for humans. It is the instruction set for intelligent systems.</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05B6B"/>
        </a:solidFill>
      </p:bgPr>
    </p:bg>
    <p:spTree>
      <p:nvGrpSpPr>
        <p:cNvPr id="1" name=""/>
        <p:cNvGrpSpPr/>
        <p:nvPr/>
      </p:nvGrpSpPr>
      <p:grpSpPr>
        <a:xfrm>
          <a:off x="0" y="0"/>
          <a:ext cx="0" cy="0"/>
          <a:chOff x="0" y="0"/>
          <a:chExt cx="0" cy="0"/>
        </a:xfrm>
      </p:grpSpPr>
      <p:sp>
        <p:nvSpPr>
          <p:cNvPr id="2" name="Text 0"/>
          <p:cNvSpPr/>
          <p:nvPr/>
        </p:nvSpPr>
        <p:spPr>
          <a:xfrm>
            <a:off x="731520" y="1645920"/>
            <a:ext cx="1371600" cy="1371600"/>
          </a:xfrm>
          <a:prstGeom prst="rect">
            <a:avLst/>
          </a:prstGeom>
          <a:noFill/>
          <a:ln/>
        </p:spPr>
        <p:txBody>
          <a:bodyPr wrap="square" rtlCol="0" anchor="ctr"/>
          <a:lstStyle/>
          <a:p>
            <a:pPr indent="0" marL="0">
              <a:buNone/>
            </a:pPr>
            <a:r>
              <a:rPr lang="en-US" sz="4800" b="1" dirty="0">
                <a:solidFill>
                  <a:srgbClr val="00A4BF"/>
                </a:solidFill>
                <a:latin typeface="Jura" pitchFamily="34" charset="0"/>
                <a:ea typeface="Jura" pitchFamily="34" charset="-122"/>
                <a:cs typeface="Jura" pitchFamily="34" charset="-120"/>
              </a:rPr>
              <a:t>06</a:t>
            </a:r>
            <a:endParaRPr lang="en-US" sz="4800" dirty="0"/>
          </a:p>
        </p:txBody>
      </p:sp>
      <p:sp>
        <p:nvSpPr>
          <p:cNvPr id="3" name="Text 1"/>
          <p:cNvSpPr/>
          <p:nvPr/>
        </p:nvSpPr>
        <p:spPr>
          <a:xfrm>
            <a:off x="2286000" y="1645920"/>
            <a:ext cx="5943600" cy="731520"/>
          </a:xfrm>
          <a:prstGeom prst="rect">
            <a:avLst/>
          </a:prstGeom>
          <a:noFill/>
          <a:ln/>
        </p:spPr>
        <p:txBody>
          <a:bodyPr wrap="square" rtlCol="0" anchor="ctr"/>
          <a:lstStyle/>
          <a:p>
            <a:pPr indent="0" marL="0">
              <a:buNone/>
            </a:pPr>
            <a:r>
              <a:rPr lang="en-US" sz="2800" b="1" dirty="0">
                <a:solidFill>
                  <a:srgbClr val="E9F3F3"/>
                </a:solidFill>
                <a:latin typeface="Jura" pitchFamily="34" charset="0"/>
                <a:ea typeface="Jura" pitchFamily="34" charset="-122"/>
                <a:cs typeface="Jura" pitchFamily="34" charset="-120"/>
              </a:rPr>
              <a:t>The Strategic Neural Graph</a:t>
            </a:r>
            <a:endParaRPr lang="en-US" sz="2800" dirty="0"/>
          </a:p>
        </p:txBody>
      </p:sp>
      <p:sp>
        <p:nvSpPr>
          <p:cNvPr id="4" name="Text 2"/>
          <p:cNvSpPr/>
          <p:nvPr/>
        </p:nvSpPr>
        <p:spPr>
          <a:xfrm>
            <a:off x="2286000" y="2468880"/>
            <a:ext cx="5943600" cy="548640"/>
          </a:xfrm>
          <a:prstGeom prst="rect">
            <a:avLst/>
          </a:prstGeom>
          <a:noFill/>
          <a:ln/>
        </p:spPr>
        <p:txBody>
          <a:bodyPr wrap="square" rtlCol="0" anchor="ctr"/>
          <a:lstStyle/>
          <a:p>
            <a:pPr indent="0" marL="0">
              <a:buNone/>
            </a:pPr>
            <a:r>
              <a:rPr lang="en-US" sz="1400" dirty="0">
                <a:solidFill>
                  <a:srgbClr val="CEC528"/>
                </a:solidFill>
                <a:latin typeface="Jura" pitchFamily="34" charset="0"/>
                <a:ea typeface="Jura" pitchFamily="34" charset="-122"/>
                <a:cs typeface="Jura" pitchFamily="34" charset="-120"/>
              </a:rPr>
              <a:t>Why this works at scale — the Unified Registry as connective tissue</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03D48"/>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005B6B"/>
          </a:solidFill>
          <a:ln/>
        </p:spPr>
      </p:sp>
      <p:sp>
        <p:nvSpPr>
          <p:cNvPr id="3" name="Text 1"/>
          <p:cNvSpPr/>
          <p:nvPr/>
        </p:nvSpPr>
        <p:spPr>
          <a:xfrm>
            <a:off x="457200" y="91440"/>
            <a:ext cx="8229600" cy="548640"/>
          </a:xfrm>
          <a:prstGeom prst="rect">
            <a:avLst/>
          </a:prstGeom>
          <a:noFill/>
          <a:ln/>
        </p:spPr>
        <p:txBody>
          <a:bodyPr wrap="square" rtlCol="0" anchor="ctr"/>
          <a:lstStyle/>
          <a:p>
            <a:pPr indent="0" marL="0">
              <a:buNone/>
            </a:pPr>
            <a:r>
              <a:rPr lang="en-US" sz="1800" b="1" dirty="0">
                <a:solidFill>
                  <a:srgbClr val="00A4BF"/>
                </a:solidFill>
                <a:latin typeface="Jura" pitchFamily="34" charset="0"/>
                <a:ea typeface="Jura" pitchFamily="34" charset="-122"/>
                <a:cs typeface="Jura" pitchFamily="34" charset="-120"/>
              </a:rPr>
              <a:t>The Unified Registry Graph Makes This Repeatable</a:t>
            </a:r>
            <a:endParaRPr lang="en-US" sz="1800" dirty="0"/>
          </a:p>
        </p:txBody>
      </p:sp>
      <p:sp>
        <p:nvSpPr>
          <p:cNvPr id="4" name="Text 2"/>
          <p:cNvSpPr/>
          <p:nvPr/>
        </p:nvSpPr>
        <p:spPr>
          <a:xfrm>
            <a:off x="457200" y="914400"/>
            <a:ext cx="7772400" cy="3840480"/>
          </a:xfrm>
          <a:prstGeom prst="rect">
            <a:avLst/>
          </a:prstGeom>
          <a:noFill/>
          <a:ln/>
        </p:spPr>
        <p:txBody>
          <a:bodyPr wrap="square" rtlCol="0" anchor="t"/>
          <a:lstStyle/>
          <a:p>
            <a:pPr indent="0" marL="0">
              <a:lnSpc>
                <a:spcPct val="115000"/>
              </a:lnSpc>
              <a:buNone/>
            </a:pPr>
            <a:r>
              <a:rPr lang="en-US" sz="1300" b="1" dirty="0">
                <a:solidFill>
                  <a:srgbClr val="CEC528"/>
                </a:solidFill>
                <a:latin typeface="Jura" pitchFamily="34" charset="0"/>
                <a:ea typeface="Jura" pitchFamily="34" charset="-122"/>
                <a:cs typeface="Jura" pitchFamily="34" charset="-120"/>
              </a:rPr>
              <a:t>The Registry: 52+ Ontologies, 5 Series, One Connected Graph</a:t>
            </a:r>
            <a:endParaRPr lang="en-US" sz="1300" dirty="0"/>
          </a:p>
          <a:p>
            <a:pPr marL="342900" indent="-342900">
              <a:lnSpc>
                <a:spcPct val="115000"/>
              </a:lnSpc>
              <a:buSzPct val="100000"/>
              <a:buChar char="•"/>
            </a:pPr>
            <a:r>
              <a:rPr lang="en-US" sz="1100" dirty="0">
                <a:solidFill>
                  <a:srgbClr val="E9F3F3"/>
                </a:solidFill>
                <a:latin typeface="Jura" pitchFamily="34" charset="0"/>
                <a:ea typeface="Jura" pitchFamily="34" charset="-122"/>
                <a:cs typeface="Jura" pitchFamily="34" charset="-120"/>
              </a:rPr>
              <a:t>The Unified Registry (ont-registry-index.json) is not a catalogue — it is a live index of every ontology in the platform. VE-Series (17 ontologies), PE-Series (15), RCSG-Series (10), Foundation (11), Orchestration (3). Each ontology declares its imports, cross-references, and join patterns. The registry is the schema of the Strategic Neural Graph.</a:t>
            </a:r>
            <a:endParaRPr lang="en-US" sz="1300" dirty="0"/>
          </a:p>
          <a:p>
            <a:pPr marL="342900" indent="-342900">
              <a:lnSpc>
                <a:spcPct val="115000"/>
              </a:lnSpc>
              <a:buSzPct val="100000"/>
              <a:buChar char="•"/>
            </a:pPr>
            <a:endParaRPr lang="en-US" sz="1300" dirty="0"/>
          </a:p>
          <a:p>
            <a:pPr indent="0" marL="0">
              <a:lnSpc>
                <a:spcPct val="115000"/>
              </a:lnSpc>
              <a:buNone/>
            </a:pPr>
            <a:r>
              <a:rPr lang="en-US" sz="1300" b="1" dirty="0">
                <a:solidFill>
                  <a:srgbClr val="CEC528"/>
                </a:solidFill>
                <a:latin typeface="Jura" pitchFamily="34" charset="0"/>
                <a:ea typeface="Jura" pitchFamily="34" charset="-122"/>
                <a:cs typeface="Jura" pitchFamily="34" charset="-120"/>
              </a:rPr>
              <a:t>What Is the Strategic Neural Graph?</a:t>
            </a:r>
            <a:endParaRPr lang="en-US" sz="1300" dirty="0"/>
          </a:p>
          <a:p>
            <a:pPr marL="342900" indent="-342900">
              <a:lnSpc>
                <a:spcPct val="115000"/>
              </a:lnSpc>
              <a:buSzPct val="100000"/>
              <a:buChar char="•"/>
            </a:pPr>
            <a:r>
              <a:rPr lang="en-US" sz="1100" dirty="0">
                <a:solidFill>
                  <a:srgbClr val="E9F3F3"/>
                </a:solidFill>
                <a:latin typeface="Jura" pitchFamily="34" charset="0"/>
                <a:ea typeface="Jura" pitchFamily="34" charset="-122"/>
                <a:cs typeface="Jura" pitchFamily="34" charset="-120"/>
              </a:rPr>
              <a:t>It is the emergent knowledge graph formed when all ontology instances are loaded and their cross-references resolved. Vision connects to strategy connects to objectives connects to KPIs connects to value propositions connects to features connects to acceptance criteria connects to test results. The "neural" metaphor is apt: each ontology is a specialised region, and the cross-ontology relationships are the synapses.</a:t>
            </a:r>
            <a:endParaRPr lang="en-US" sz="1300" dirty="0"/>
          </a:p>
          <a:p>
            <a:pPr marL="342900" indent="-342900">
              <a:lnSpc>
                <a:spcPct val="115000"/>
              </a:lnSpc>
              <a:buSzPct val="100000"/>
              <a:buChar char="•"/>
            </a:pPr>
            <a:endParaRPr lang="en-US" sz="1300" dirty="0"/>
          </a:p>
          <a:p>
            <a:pPr indent="0" marL="0">
              <a:lnSpc>
                <a:spcPct val="115000"/>
              </a:lnSpc>
              <a:buNone/>
            </a:pPr>
            <a:r>
              <a:rPr lang="en-US" sz="1300" b="1" dirty="0">
                <a:solidFill>
                  <a:srgbClr val="CEC528"/>
                </a:solidFill>
                <a:latin typeface="Jura" pitchFamily="34" charset="0"/>
                <a:ea typeface="Jura" pitchFamily="34" charset="-122"/>
                <a:cs typeface="Jura" pitchFamily="34" charset="-120"/>
              </a:rPr>
              <a:t>Why "Neural" — Not Just "Knowledge Graph"</a:t>
            </a:r>
            <a:endParaRPr lang="en-US" sz="1300" dirty="0"/>
          </a:p>
          <a:p>
            <a:pPr marL="342900" indent="-342900">
              <a:lnSpc>
                <a:spcPct val="115000"/>
              </a:lnSpc>
              <a:buSzPct val="100000"/>
              <a:buChar char="•"/>
            </a:pPr>
            <a:r>
              <a:rPr lang="en-US" sz="1100" dirty="0">
                <a:solidFill>
                  <a:srgbClr val="E9F3F3"/>
                </a:solidFill>
                <a:latin typeface="Jura" pitchFamily="34" charset="0"/>
                <a:ea typeface="Jura" pitchFamily="34" charset="-122"/>
                <a:cs typeface="Jura" pitchFamily="34" charset="-120"/>
              </a:rPr>
              <a:t>Because the graph is not static. EMC-ONT (Enterprise Model Composition) orchestrates which subgraphs are active for a given context. Scope rules determine what each PFI instance sees. The graph adapts to context — just as neural pathways strengthen with use. When a BAIV agent composes a strategy deck, it traverses a different subgraph than when a W4M-WWG agent plans a supply corridor. Same neural graph, different activation patterns.</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03D48"/>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005B6B"/>
          </a:solidFill>
          <a:ln/>
        </p:spPr>
      </p:sp>
      <p:sp>
        <p:nvSpPr>
          <p:cNvPr id="3" name="Text 1"/>
          <p:cNvSpPr/>
          <p:nvPr/>
        </p:nvSpPr>
        <p:spPr>
          <a:xfrm>
            <a:off x="457200" y="91440"/>
            <a:ext cx="8229600" cy="548640"/>
          </a:xfrm>
          <a:prstGeom prst="rect">
            <a:avLst/>
          </a:prstGeom>
          <a:noFill/>
          <a:ln/>
        </p:spPr>
        <p:txBody>
          <a:bodyPr wrap="square" rtlCol="0" anchor="ctr"/>
          <a:lstStyle/>
          <a:p>
            <a:pPr indent="0" marL="0">
              <a:buNone/>
            </a:pPr>
            <a:r>
              <a:rPr lang="en-US" sz="1800" b="1" dirty="0">
                <a:solidFill>
                  <a:srgbClr val="00A4BF"/>
                </a:solidFill>
                <a:latin typeface="Jura" pitchFamily="34" charset="0"/>
                <a:ea typeface="Jura" pitchFamily="34" charset="-122"/>
                <a:cs typeface="Jura" pitchFamily="34" charset="-120"/>
              </a:rPr>
              <a:t>Five PFI Instances, One Platform, Infinite Configurations</a:t>
            </a:r>
            <a:endParaRPr lang="en-US" sz="1800" dirty="0"/>
          </a:p>
        </p:txBody>
      </p:sp>
      <p:sp>
        <p:nvSpPr>
          <p:cNvPr id="4" name="Text 2"/>
          <p:cNvSpPr/>
          <p:nvPr/>
        </p:nvSpPr>
        <p:spPr>
          <a:xfrm>
            <a:off x="457200" y="914400"/>
            <a:ext cx="7772400" cy="3840480"/>
          </a:xfrm>
          <a:prstGeom prst="rect">
            <a:avLst/>
          </a:prstGeom>
          <a:noFill/>
          <a:ln/>
        </p:spPr>
        <p:txBody>
          <a:bodyPr wrap="square" rtlCol="0" anchor="t"/>
          <a:lstStyle/>
          <a:p>
            <a:pPr indent="0" marL="0">
              <a:lnSpc>
                <a:spcPct val="115000"/>
              </a:lnSpc>
              <a:buNone/>
            </a:pPr>
            <a:r>
              <a:rPr lang="en-US" sz="1300" b="1" dirty="0">
                <a:solidFill>
                  <a:srgbClr val="CEC528"/>
                </a:solidFill>
                <a:latin typeface="Jura" pitchFamily="34" charset="0"/>
                <a:ea typeface="Jura" pitchFamily="34" charset="-122"/>
                <a:cs typeface="Jura" pitchFamily="34" charset="-120"/>
              </a:rPr>
              <a:t>The PFI Instance Model</a:t>
            </a:r>
            <a:endParaRPr lang="en-US" sz="1300" dirty="0"/>
          </a:p>
          <a:p>
            <a:pPr marL="342900" indent="-342900">
              <a:lnSpc>
                <a:spcPct val="115000"/>
              </a:lnSpc>
              <a:buSzPct val="100000"/>
              <a:buChar char="•"/>
            </a:pPr>
            <a:r>
              <a:rPr lang="en-US" sz="1100" dirty="0">
                <a:solidFill>
                  <a:srgbClr val="E9F3F3"/>
                </a:solidFill>
                <a:latin typeface="Jura" pitchFamily="34" charset="0"/>
                <a:ea typeface="Jura" pitchFamily="34" charset="-122"/>
                <a:cs typeface="Jura" pitchFamily="34" charset="-120"/>
              </a:rPr>
              <a:t>Each Platform Foundation Instance (PFI) — BAIV, W4M-WWG, W4M-EOMS, AIRL-CAF-AZA, VHF — declares its own subset of the graph via instanceOntologies. BAIV uses 16 ontologies across PRODUCT, COMPETITIVE, and STRATEGIC compositions. W4M-WWG uses 7 across PRODUCT, FULFILMENT, and COMPETITIVE. Each sees the platform through its own lens.</a:t>
            </a:r>
            <a:endParaRPr lang="en-US" sz="1300" dirty="0"/>
          </a:p>
          <a:p>
            <a:pPr marL="342900" indent="-342900">
              <a:lnSpc>
                <a:spcPct val="115000"/>
              </a:lnSpc>
              <a:buSzPct val="100000"/>
              <a:buChar char="•"/>
            </a:pPr>
            <a:endParaRPr lang="en-US" sz="1300" dirty="0"/>
          </a:p>
          <a:p>
            <a:pPr indent="0" marL="0">
              <a:lnSpc>
                <a:spcPct val="115000"/>
              </a:lnSpc>
              <a:buNone/>
            </a:pPr>
            <a:r>
              <a:rPr lang="en-US" sz="1300" b="1" dirty="0">
                <a:solidFill>
                  <a:srgbClr val="CEC528"/>
                </a:solidFill>
                <a:latin typeface="Jura" pitchFamily="34" charset="0"/>
                <a:ea typeface="Jura" pitchFamily="34" charset="-122"/>
                <a:cs typeface="Jura" pitchFamily="34" charset="-120"/>
              </a:rPr>
              <a:t>The Cascade: PFC → PFI → Product → Client</a:t>
            </a:r>
            <a:endParaRPr lang="en-US" sz="1300" dirty="0"/>
          </a:p>
          <a:p>
            <a:pPr marL="342900" indent="-342900">
              <a:lnSpc>
                <a:spcPct val="115000"/>
              </a:lnSpc>
              <a:buSzPct val="100000"/>
              <a:buChar char="•"/>
            </a:pPr>
            <a:r>
              <a:rPr lang="en-US" sz="1100" dirty="0">
                <a:solidFill>
                  <a:srgbClr val="E9F3F3"/>
                </a:solidFill>
                <a:latin typeface="Jura" pitchFamily="34" charset="0"/>
                <a:ea typeface="Jura" pitchFamily="34" charset="-122"/>
                <a:cs typeface="Jura" pitchFamily="34" charset="-120"/>
              </a:rPr>
              <a:t>Configuration cascades from PF-Core (platform defaults) → PFI Instance (brand + ontology selection) → Product (specific application) → Client (white-label customisation). The VE skill chain runs at every level. A PFI instance has its own VSOM. Its own VP. Its own KPIs. The methodology is universal; the content is instance-specific.</a:t>
            </a:r>
            <a:endParaRPr lang="en-US" sz="1300" dirty="0"/>
          </a:p>
          <a:p>
            <a:pPr marL="342900" indent="-342900">
              <a:lnSpc>
                <a:spcPct val="115000"/>
              </a:lnSpc>
              <a:buSzPct val="100000"/>
              <a:buChar char="•"/>
            </a:pPr>
            <a:endParaRPr lang="en-US" sz="1300" dirty="0"/>
          </a:p>
          <a:p>
            <a:pPr indent="0" marL="0">
              <a:lnSpc>
                <a:spcPct val="115000"/>
              </a:lnSpc>
              <a:buNone/>
            </a:pPr>
            <a:r>
              <a:rPr lang="en-US" sz="1300" b="1" dirty="0">
                <a:solidFill>
                  <a:srgbClr val="CEC528"/>
                </a:solidFill>
                <a:latin typeface="Jura" pitchFamily="34" charset="0"/>
                <a:ea typeface="Jura" pitchFamily="34" charset="-122"/>
                <a:cs typeface="Jura" pitchFamily="34" charset="-120"/>
              </a:rPr>
              <a:t>Scale Without Repetition</a:t>
            </a:r>
            <a:endParaRPr lang="en-US" sz="1300" dirty="0"/>
          </a:p>
          <a:p>
            <a:pPr marL="342900" indent="-342900">
              <a:lnSpc>
                <a:spcPct val="115000"/>
              </a:lnSpc>
              <a:buSzPct val="100000"/>
              <a:buChar char="•"/>
            </a:pPr>
            <a:r>
              <a:rPr lang="en-US" sz="1100" dirty="0">
                <a:solidFill>
                  <a:srgbClr val="E9F3F3"/>
                </a:solidFill>
                <a:latin typeface="Jura" pitchFamily="34" charset="0"/>
                <a:ea typeface="Jura" pitchFamily="34" charset="-122"/>
                <a:cs typeface="Jura" pitchFamily="34" charset="-120"/>
              </a:rPr>
              <a:t>When a new PFI instance is onboarded, it does not start from scratch. It inherits the VE skill chain methodology, the PE execution framework, the GRC compliance layer, and the DS design tokens — all from PFC Core. It adds its own VSOM vision, VP customer profiles, and Kano feature priorities. The idea-to-PoC pipeline is ready on day one.</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03D48"/>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005B6B"/>
          </a:solidFill>
          <a:ln/>
        </p:spPr>
      </p:sp>
      <p:sp>
        <p:nvSpPr>
          <p:cNvPr id="3" name="Text 1"/>
          <p:cNvSpPr/>
          <p:nvPr/>
        </p:nvSpPr>
        <p:spPr>
          <a:xfrm>
            <a:off x="457200" y="91440"/>
            <a:ext cx="8229600" cy="548640"/>
          </a:xfrm>
          <a:prstGeom prst="rect">
            <a:avLst/>
          </a:prstGeom>
          <a:noFill/>
          <a:ln/>
        </p:spPr>
        <p:txBody>
          <a:bodyPr wrap="square" rtlCol="0" anchor="ctr"/>
          <a:lstStyle/>
          <a:p>
            <a:pPr indent="0" marL="0">
              <a:buNone/>
            </a:pPr>
            <a:r>
              <a:rPr lang="en-US" sz="1800" b="1" dirty="0">
                <a:solidFill>
                  <a:srgbClr val="00A4BF"/>
                </a:solidFill>
                <a:latin typeface="Jura" pitchFamily="34" charset="0"/>
                <a:ea typeface="Jura" pitchFamily="34" charset="-122"/>
                <a:cs typeface="Jura" pitchFamily="34" charset="-120"/>
              </a:rPr>
              <a:t>Summary — The VE Skill Chain Closes the Strategy-Execution Gap</a:t>
            </a:r>
            <a:endParaRPr lang="en-US" sz="1800" dirty="0"/>
          </a:p>
        </p:txBody>
      </p:sp>
      <p:sp>
        <p:nvSpPr>
          <p:cNvPr id="4" name="Text 2"/>
          <p:cNvSpPr/>
          <p:nvPr/>
        </p:nvSpPr>
        <p:spPr>
          <a:xfrm>
            <a:off x="457200" y="914400"/>
            <a:ext cx="7772400" cy="3840480"/>
          </a:xfrm>
          <a:prstGeom prst="rect">
            <a:avLst/>
          </a:prstGeom>
          <a:noFill/>
          <a:ln/>
        </p:spPr>
        <p:txBody>
          <a:bodyPr wrap="square" rtlCol="0" anchor="t"/>
          <a:lstStyle/>
          <a:p>
            <a:pPr indent="0" marL="0">
              <a:lnSpc>
                <a:spcPct val="115000"/>
              </a:lnSpc>
              <a:buNone/>
            </a:pPr>
            <a:r>
              <a:rPr lang="en-US" sz="1300" b="1" dirty="0">
                <a:solidFill>
                  <a:srgbClr val="CEC528"/>
                </a:solidFill>
                <a:latin typeface="Jura" pitchFamily="34" charset="0"/>
                <a:ea typeface="Jura" pitchFamily="34" charset="-122"/>
                <a:cs typeface="Jura" pitchFamily="34" charset="-120"/>
              </a:rPr>
              <a:t>The Chain</a:t>
            </a:r>
            <a:endParaRPr lang="en-US" sz="1300" dirty="0"/>
          </a:p>
          <a:p>
            <a:pPr marL="342900" indent="-342900">
              <a:lnSpc>
                <a:spcPct val="115000"/>
              </a:lnSpc>
              <a:buSzPct val="100000"/>
              <a:buChar char="•"/>
            </a:pPr>
            <a:r>
              <a:rPr lang="en-US" sz="1100" dirty="0">
                <a:solidFill>
                  <a:srgbClr val="E9F3F3"/>
                </a:solidFill>
                <a:latin typeface="Jura" pitchFamily="34" charset="0"/>
                <a:ea typeface="Jura" pitchFamily="34" charset="-122"/>
                <a:cs typeface="Jura" pitchFamily="34" charset="-120"/>
              </a:rPr>
              <a:t>VSOM → OKR → KPI → VP → Kano → PMF. Six ontologies. Each stage validates and enriches the last. The output is not a document — it is a connected, traversable, machine-readable knowledge graph.</a:t>
            </a:r>
            <a:endParaRPr lang="en-US" sz="1300" dirty="0"/>
          </a:p>
          <a:p>
            <a:pPr indent="0" marL="0">
              <a:lnSpc>
                <a:spcPct val="115000"/>
              </a:lnSpc>
              <a:buNone/>
            </a:pPr>
            <a:r>
              <a:rPr lang="en-US" sz="1300" b="1" dirty="0">
                <a:solidFill>
                  <a:srgbClr val="CEC528"/>
                </a:solidFill>
                <a:latin typeface="Jura" pitchFamily="34" charset="0"/>
                <a:ea typeface="Jura" pitchFamily="34" charset="-122"/>
                <a:cs typeface="Jura" pitchFamily="34" charset="-120"/>
              </a:rPr>
              <a:t>The Bridge</a:t>
            </a:r>
            <a:endParaRPr lang="en-US" sz="1300" dirty="0"/>
          </a:p>
          <a:p>
            <a:pPr marL="342900" indent="-342900">
              <a:lnSpc>
                <a:spcPct val="115000"/>
              </a:lnSpc>
              <a:buSzPct val="100000"/>
              <a:buChar char="•"/>
            </a:pPr>
            <a:r>
              <a:rPr lang="en-US" sz="1100" dirty="0">
                <a:solidFill>
                  <a:srgbClr val="E9F3F3"/>
                </a:solidFill>
                <a:latin typeface="Jura" pitchFamily="34" charset="0"/>
                <a:ea typeface="Jura" pitchFamily="34" charset="-122"/>
                <a:cs typeface="Jura" pitchFamily="34" charset="-120"/>
              </a:rPr>
              <a:t>VE produces validated product briefs. PE consumes them. Every epic, feature, and story traces back to a validated customer need, a strategic objective, and a measurable KPI.</a:t>
            </a:r>
            <a:endParaRPr lang="en-US" sz="1300" dirty="0"/>
          </a:p>
          <a:p>
            <a:pPr indent="0" marL="0">
              <a:lnSpc>
                <a:spcPct val="115000"/>
              </a:lnSpc>
              <a:buNone/>
            </a:pPr>
            <a:r>
              <a:rPr lang="en-US" sz="1300" b="1" dirty="0">
                <a:solidFill>
                  <a:srgbClr val="CEC528"/>
                </a:solidFill>
                <a:latin typeface="Jura" pitchFamily="34" charset="0"/>
                <a:ea typeface="Jura" pitchFamily="34" charset="-122"/>
                <a:cs typeface="Jura" pitchFamily="34" charset="-120"/>
              </a:rPr>
              <a:t>The Builder</a:t>
            </a:r>
            <a:endParaRPr lang="en-US" sz="1300" dirty="0"/>
          </a:p>
          <a:p>
            <a:pPr marL="342900" indent="-342900">
              <a:lnSpc>
                <a:spcPct val="115000"/>
              </a:lnSpc>
              <a:buSzPct val="100000"/>
              <a:buChar char="•"/>
            </a:pPr>
            <a:r>
              <a:rPr lang="en-US" sz="1100" dirty="0">
                <a:solidFill>
                  <a:srgbClr val="E9F3F3"/>
                </a:solidFill>
                <a:latin typeface="Jura" pitchFamily="34" charset="0"/>
                <a:ea typeface="Jura" pitchFamily="34" charset="-122"/>
                <a:cs typeface="Jura" pitchFamily="34" charset="-120"/>
              </a:rPr>
              <a:t>Programme Manager decomposes the PRD via EFS-ONT, plans via PPM-ONT, and executes the PoC against PMF-validated success criteria. The loop closes when PoC results feed back to VE.</a:t>
            </a:r>
            <a:endParaRPr lang="en-US" sz="1300" dirty="0"/>
          </a:p>
          <a:p>
            <a:pPr indent="0" marL="0">
              <a:lnSpc>
                <a:spcPct val="115000"/>
              </a:lnSpc>
              <a:buNone/>
            </a:pPr>
            <a:r>
              <a:rPr lang="en-US" sz="1300" b="1" dirty="0">
                <a:solidFill>
                  <a:srgbClr val="CEC528"/>
                </a:solidFill>
                <a:latin typeface="Jura" pitchFamily="34" charset="0"/>
                <a:ea typeface="Jura" pitchFamily="34" charset="-122"/>
                <a:cs typeface="Jura" pitchFamily="34" charset="-120"/>
              </a:rPr>
              <a:t>The Neural Graph</a:t>
            </a:r>
            <a:endParaRPr lang="en-US" sz="1300" dirty="0"/>
          </a:p>
          <a:p>
            <a:pPr marL="342900" indent="-342900">
              <a:lnSpc>
                <a:spcPct val="115000"/>
              </a:lnSpc>
              <a:buSzPct val="100000"/>
              <a:buChar char="•"/>
            </a:pPr>
            <a:r>
              <a:rPr lang="en-US" sz="1100" dirty="0">
                <a:solidFill>
                  <a:srgbClr val="E9F3F3"/>
                </a:solidFill>
                <a:latin typeface="Jura" pitchFamily="34" charset="0"/>
                <a:ea typeface="Jura" pitchFamily="34" charset="-122"/>
                <a:cs typeface="Jura" pitchFamily="34" charset="-120"/>
              </a:rPr>
              <a:t>The Strategic Neural Graph — powered by the Unified Registry — makes this repeatable across PFI instances. Same methodology, instance-specific content, infinite configurations.</a:t>
            </a:r>
            <a:endParaRPr lang="en-US" sz="1300" dirty="0"/>
          </a:p>
          <a:p>
            <a:pPr indent="0" marL="0">
              <a:lnSpc>
                <a:spcPct val="115000"/>
              </a:lnSpc>
              <a:buNone/>
            </a:pPr>
            <a:r>
              <a:rPr lang="en-US" sz="1300" b="1" dirty="0">
                <a:solidFill>
                  <a:srgbClr val="CEC528"/>
                </a:solidFill>
                <a:latin typeface="Jura" pitchFamily="34" charset="0"/>
                <a:ea typeface="Jura" pitchFamily="34" charset="-122"/>
                <a:cs typeface="Jura" pitchFamily="34" charset="-120"/>
              </a:rPr>
              <a:t>The Bottom Line</a:t>
            </a:r>
            <a:endParaRPr lang="en-US" sz="1300" dirty="0"/>
          </a:p>
          <a:p>
            <a:pPr marL="342900" indent="-342900">
              <a:lnSpc>
                <a:spcPct val="115000"/>
              </a:lnSpc>
              <a:buSzPct val="100000"/>
              <a:buChar char="•"/>
            </a:pPr>
            <a:r>
              <a:rPr lang="en-US" sz="1100" dirty="0">
                <a:solidFill>
                  <a:srgbClr val="E9F3F3"/>
                </a:solidFill>
                <a:latin typeface="Jura" pitchFamily="34" charset="0"/>
                <a:ea typeface="Jura" pitchFamily="34" charset="-122"/>
                <a:cs typeface="Jura" pitchFamily="34" charset="-120"/>
              </a:rPr>
              <a:t>Ideas die in the gap between strategy and execution. The VE skill chain eliminates that gap — not with process, but with structure. Every decision is traceable. Every assumption is testable. Every artefact is connected.</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03D48"/>
        </a:solidFill>
      </p:bgPr>
    </p:bg>
    <p:spTree>
      <p:nvGrpSpPr>
        <p:cNvPr id="1" name=""/>
        <p:cNvGrpSpPr/>
        <p:nvPr/>
      </p:nvGrpSpPr>
      <p:grpSpPr>
        <a:xfrm>
          <a:off x="0" y="0"/>
          <a:ext cx="0" cy="0"/>
          <a:chOff x="0" y="0"/>
          <a:chExt cx="0" cy="0"/>
        </a:xfrm>
      </p:grpSpPr>
      <p:sp>
        <p:nvSpPr>
          <p:cNvPr id="2" name="Text 0"/>
          <p:cNvSpPr/>
          <p:nvPr/>
        </p:nvSpPr>
        <p:spPr>
          <a:xfrm>
            <a:off x="731520" y="1828800"/>
            <a:ext cx="7680960" cy="914400"/>
          </a:xfrm>
          <a:prstGeom prst="rect">
            <a:avLst/>
          </a:prstGeom>
          <a:noFill/>
          <a:ln/>
        </p:spPr>
        <p:txBody>
          <a:bodyPr wrap="square" rtlCol="0" anchor="ctr"/>
          <a:lstStyle/>
          <a:p>
            <a:pPr algn="ctr" indent="0" marL="0">
              <a:buNone/>
            </a:pPr>
            <a:r>
              <a:rPr lang="en-US" sz="3200" b="1" dirty="0">
                <a:solidFill>
                  <a:srgbClr val="E9F3F3"/>
                </a:solidFill>
                <a:latin typeface="Jura" pitchFamily="34" charset="0"/>
                <a:ea typeface="Jura" pitchFamily="34" charset="-122"/>
                <a:cs typeface="Jura" pitchFamily="34" charset="-120"/>
              </a:rPr>
              <a:t>Strategy Is Only as Good as Its Structure</a:t>
            </a:r>
            <a:endParaRPr lang="en-US" sz="3200" dirty="0"/>
          </a:p>
        </p:txBody>
      </p:sp>
      <p:sp>
        <p:nvSpPr>
          <p:cNvPr id="3" name="Text 1"/>
          <p:cNvSpPr/>
          <p:nvPr/>
        </p:nvSpPr>
        <p:spPr>
          <a:xfrm>
            <a:off x="731520" y="2926080"/>
            <a:ext cx="7680960" cy="457200"/>
          </a:xfrm>
          <a:prstGeom prst="rect">
            <a:avLst/>
          </a:prstGeom>
          <a:noFill/>
          <a:ln/>
        </p:spPr>
        <p:txBody>
          <a:bodyPr wrap="square" rtlCol="0" anchor="ctr"/>
          <a:lstStyle/>
          <a:p>
            <a:pPr algn="ctr" indent="0" marL="0">
              <a:buNone/>
            </a:pPr>
            <a:r>
              <a:rPr lang="en-US" sz="1400" dirty="0">
                <a:solidFill>
                  <a:srgbClr val="00A4BF"/>
                </a:solidFill>
                <a:latin typeface="Jura" pitchFamily="34" charset="0"/>
                <a:ea typeface="Jura" pitchFamily="34" charset="-122"/>
                <a:cs typeface="Jura" pitchFamily="34" charset="-120"/>
              </a:rPr>
              <a:t>VE Skill Chain • Strategic Neural Graph • Unified Registry</a:t>
            </a:r>
            <a:endParaRPr lang="en-US" sz="1400" dirty="0"/>
          </a:p>
        </p:txBody>
      </p:sp>
      <p:sp>
        <p:nvSpPr>
          <p:cNvPr id="4" name="Text 2"/>
          <p:cNvSpPr/>
          <p:nvPr/>
        </p:nvSpPr>
        <p:spPr>
          <a:xfrm>
            <a:off x="731520" y="3474720"/>
            <a:ext cx="7680960" cy="365760"/>
          </a:xfrm>
          <a:prstGeom prst="rect">
            <a:avLst/>
          </a:prstGeom>
          <a:noFill/>
          <a:ln/>
        </p:spPr>
        <p:txBody>
          <a:bodyPr wrap="square" rtlCol="0" anchor="ctr"/>
          <a:lstStyle/>
          <a:p>
            <a:pPr algn="ctr" indent="0" marL="0">
              <a:buNone/>
            </a:pPr>
            <a:r>
              <a:rPr lang="en-US" sz="1100" dirty="0">
                <a:solidFill>
                  <a:srgbClr val="D9EBEB"/>
                </a:solidFill>
                <a:latin typeface="Jura" pitchFamily="34" charset="0"/>
                <a:ea typeface="Jura" pitchFamily="34" charset="-122"/>
                <a:cs typeface="Jura" pitchFamily="34" charset="-120"/>
              </a:rPr>
              <a:t>PF-Core Platform Foundation • Generated March 2026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Value Engineering — From Idea to Execution via the VE Skill Chain</dc:title>
  <dc:subject>PptxGenJS Presentation</dc:subject>
  <dc:creator>PF-Core / Claude</dc:creator>
  <cp:lastModifiedBy>PF-Core / Claude</cp:lastModifiedBy>
  <cp:revision>1</cp:revision>
  <dcterms:created xsi:type="dcterms:W3CDTF">2026-03-08T18:39:29Z</dcterms:created>
  <dcterms:modified xsi:type="dcterms:W3CDTF">2026-03-08T18:39:29Z</dcterms:modified>
</cp:coreProperties>
</file>